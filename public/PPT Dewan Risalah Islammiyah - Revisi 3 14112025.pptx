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ileron" pitchFamily="2" charset="77"/>
      <p:regular r:id="rId14"/>
    </p:embeddedFont>
    <p:embeddedFont>
      <p:font typeface="Aileron Bold" pitchFamily="2" charset="77"/>
      <p:regular r:id="rId15"/>
      <p:bold r:id="rId16"/>
    </p:embeddedFont>
    <p:embeddedFont>
      <p:font typeface="Aileron Bold Italics" pitchFamily="2" charset="77"/>
      <p:regular r:id="rId17"/>
      <p:bold r:id="rId18"/>
      <p:italic r:id="rId19"/>
      <p:boldItalic r:id="rId20"/>
    </p:embeddedFont>
    <p:embeddedFont>
      <p:font typeface="TT Drugs" panose="02000503060000020003" pitchFamily="2" charset="77"/>
      <p:regular r:id="rId21"/>
    </p:embeddedFont>
    <p:embeddedFont>
      <p:font typeface="TT Drugs Bold" panose="02000803060000020003" pitchFamily="2" charset="77"/>
      <p:regular r:id="rId22"/>
      <p:bold r:id="rId23"/>
    </p:embeddedFont>
    <p:embeddedFont>
      <p:font typeface="TT Interphases" panose="02000503020000020004" pitchFamily="2" charset="0"/>
      <p:regular r:id="rId24"/>
    </p:embeddedFont>
    <p:embeddedFont>
      <p:font typeface="TT Interphases Bold" panose="02000803060000020004" pitchFamily="2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3632" autoAdjust="0"/>
  </p:normalViewPr>
  <p:slideViewPr>
    <p:cSldViewPr>
      <p:cViewPr>
        <p:scale>
          <a:sx n="70" d="100"/>
          <a:sy n="70" d="100"/>
        </p:scale>
        <p:origin x="-1224" y="-1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77452" y="3738329"/>
            <a:ext cx="14506159" cy="289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22"/>
              </a:lnSpc>
            </a:pPr>
            <a:r>
              <a:rPr lang="en-US" sz="10200" b="1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Dewan Da’wah Risalah Islamiyyah – Sulit Air</a:t>
            </a:r>
          </a:p>
        </p:txBody>
      </p:sp>
      <p:sp>
        <p:nvSpPr>
          <p:cNvPr id="3" name="AutoShape 3"/>
          <p:cNvSpPr/>
          <p:nvPr/>
        </p:nvSpPr>
        <p:spPr>
          <a:xfrm rot="5400000">
            <a:off x="-3202371" y="5138738"/>
            <a:ext cx="1031760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72623" y="4993005"/>
            <a:ext cx="229753" cy="29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82880" y="6922446"/>
            <a:ext cx="172223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7F2218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DDR ISA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96922" y="1019175"/>
            <a:ext cx="674225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Visi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34157" y="3698875"/>
            <a:ext cx="4667783" cy="285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5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“Menjadi Institusi Da’wah Risalah Islamiyyah </a:t>
            </a:r>
            <a:r>
              <a:rPr lang="en-US" sz="3500" b="1">
                <a:solidFill>
                  <a:srgbClr val="D75B3F"/>
                </a:solidFill>
                <a:latin typeface="Aileron Bold"/>
                <a:ea typeface="Aileron Bold"/>
                <a:cs typeface="Aileron Bold"/>
                <a:sym typeface="Aileron Bold"/>
              </a:rPr>
              <a:t>Terkemuka </a:t>
            </a:r>
            <a:r>
              <a:rPr lang="en-US" sz="3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dalam Masyarakat Sulit Air”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20883" y="1976338"/>
            <a:ext cx="6280404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Melaksanakan kegiatan da’wah risalah Islamiyyah melalui bidang-bidang pendidikan, keagamaan, ekonomi, sosial dan budaya.</a:t>
            </a:r>
          </a:p>
          <a:p>
            <a:pPr algn="just">
              <a:lnSpc>
                <a:spcPts val="3500"/>
              </a:lnSpc>
            </a:pPr>
            <a:endParaRPr lang="en-US" sz="2499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39324" y="1984672"/>
            <a:ext cx="43829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b="1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9639324" y="3943306"/>
            <a:ext cx="741582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520883" y="4103588"/>
            <a:ext cx="62804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Melakukan kaderisasi da’i.</a:t>
            </a:r>
          </a:p>
        </p:txBody>
      </p:sp>
      <p:sp>
        <p:nvSpPr>
          <p:cNvPr id="8" name="AutoShape 8"/>
          <p:cNvSpPr/>
          <p:nvPr/>
        </p:nvSpPr>
        <p:spPr>
          <a:xfrm>
            <a:off x="9639324" y="4887662"/>
            <a:ext cx="741582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520883" y="5225225"/>
            <a:ext cx="6280404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Mengembangkan konsep-konsep da’wah yang kreatif dan inovatif dalam memberikan kontribusi ide dan konsep da’wah risalah Islamiyyah untuk masa kini dan mendatang.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639324" y="7347713"/>
            <a:ext cx="741582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520883" y="7688848"/>
            <a:ext cx="62804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 Lembaga-Lembaga pendidikan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9324" y="4114304"/>
            <a:ext cx="51438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b="1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39324" y="5301067"/>
            <a:ext cx="51252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b="1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9324" y="7741552"/>
            <a:ext cx="53150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  <a:spcBef>
                <a:spcPct val="0"/>
              </a:spcBef>
            </a:pPr>
            <a:r>
              <a:rPr lang="en-US" sz="3000" b="1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741" y="1009650"/>
            <a:ext cx="282401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86850" y="833437"/>
            <a:ext cx="674225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Misi</a:t>
            </a:r>
          </a:p>
        </p:txBody>
      </p:sp>
      <p:sp>
        <p:nvSpPr>
          <p:cNvPr id="17" name="AutoShape 17"/>
          <p:cNvSpPr/>
          <p:nvPr/>
        </p:nvSpPr>
        <p:spPr>
          <a:xfrm rot="5400000">
            <a:off x="-3202371" y="5138738"/>
            <a:ext cx="1031760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62196" y="2477876"/>
            <a:ext cx="3152205" cy="867410"/>
            <a:chOff x="0" y="0"/>
            <a:chExt cx="830210" cy="2284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0210" cy="228454"/>
            </a:xfrm>
            <a:custGeom>
              <a:avLst/>
              <a:gdLst/>
              <a:ahLst/>
              <a:cxnLst/>
              <a:rect l="l" t="t" r="r" b="b"/>
              <a:pathLst>
                <a:path w="830210" h="228454">
                  <a:moveTo>
                    <a:pt x="7368" y="0"/>
                  </a:moveTo>
                  <a:lnTo>
                    <a:pt x="822842" y="0"/>
                  </a:lnTo>
                  <a:cubicBezTo>
                    <a:pt x="826912" y="0"/>
                    <a:pt x="830210" y="3299"/>
                    <a:pt x="830210" y="7368"/>
                  </a:cubicBezTo>
                  <a:lnTo>
                    <a:pt x="830210" y="221086"/>
                  </a:lnTo>
                  <a:cubicBezTo>
                    <a:pt x="830210" y="225155"/>
                    <a:pt x="826912" y="228454"/>
                    <a:pt x="822842" y="228454"/>
                  </a:cubicBezTo>
                  <a:lnTo>
                    <a:pt x="7368" y="228454"/>
                  </a:lnTo>
                  <a:cubicBezTo>
                    <a:pt x="3299" y="228454"/>
                    <a:pt x="0" y="225155"/>
                    <a:pt x="0" y="221086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D75B3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30210" cy="285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199" b="1" spc="1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PALING BANYAK DIRUJUK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33859" y="4752204"/>
            <a:ext cx="3152205" cy="867410"/>
            <a:chOff x="0" y="0"/>
            <a:chExt cx="830210" cy="228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30210" cy="228454"/>
            </a:xfrm>
            <a:custGeom>
              <a:avLst/>
              <a:gdLst/>
              <a:ahLst/>
              <a:cxnLst/>
              <a:rect l="l" t="t" r="r" b="b"/>
              <a:pathLst>
                <a:path w="830210" h="228454">
                  <a:moveTo>
                    <a:pt x="7368" y="0"/>
                  </a:moveTo>
                  <a:lnTo>
                    <a:pt x="822842" y="0"/>
                  </a:lnTo>
                  <a:cubicBezTo>
                    <a:pt x="826912" y="0"/>
                    <a:pt x="830210" y="3299"/>
                    <a:pt x="830210" y="7368"/>
                  </a:cubicBezTo>
                  <a:lnTo>
                    <a:pt x="830210" y="221086"/>
                  </a:lnTo>
                  <a:cubicBezTo>
                    <a:pt x="830210" y="225155"/>
                    <a:pt x="826912" y="228454"/>
                    <a:pt x="822842" y="228454"/>
                  </a:cubicBezTo>
                  <a:lnTo>
                    <a:pt x="7368" y="228454"/>
                  </a:lnTo>
                  <a:cubicBezTo>
                    <a:pt x="3299" y="228454"/>
                    <a:pt x="0" y="225155"/>
                    <a:pt x="0" y="221086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7F221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30210" cy="285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199" b="1" spc="1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PALING BERPENGARUH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62196" y="7551661"/>
            <a:ext cx="3152205" cy="848296"/>
            <a:chOff x="0" y="0"/>
            <a:chExt cx="830210" cy="2234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0210" cy="223420"/>
            </a:xfrm>
            <a:custGeom>
              <a:avLst/>
              <a:gdLst/>
              <a:ahLst/>
              <a:cxnLst/>
              <a:rect l="l" t="t" r="r" b="b"/>
              <a:pathLst>
                <a:path w="830210" h="223420">
                  <a:moveTo>
                    <a:pt x="7368" y="0"/>
                  </a:moveTo>
                  <a:lnTo>
                    <a:pt x="822842" y="0"/>
                  </a:lnTo>
                  <a:cubicBezTo>
                    <a:pt x="826912" y="0"/>
                    <a:pt x="830210" y="3299"/>
                    <a:pt x="830210" y="7368"/>
                  </a:cubicBezTo>
                  <a:lnTo>
                    <a:pt x="830210" y="216051"/>
                  </a:lnTo>
                  <a:cubicBezTo>
                    <a:pt x="830210" y="220121"/>
                    <a:pt x="826912" y="223420"/>
                    <a:pt x="822842" y="223420"/>
                  </a:cubicBezTo>
                  <a:lnTo>
                    <a:pt x="7368" y="223420"/>
                  </a:lnTo>
                  <a:cubicBezTo>
                    <a:pt x="3299" y="223420"/>
                    <a:pt x="0" y="220121"/>
                    <a:pt x="0" y="216051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D75B3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30210" cy="28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199" b="1" spc="1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PALING DIDENGAR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48887" y="7551661"/>
            <a:ext cx="3152205" cy="848296"/>
            <a:chOff x="0" y="0"/>
            <a:chExt cx="830210" cy="2234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0210" cy="223420"/>
            </a:xfrm>
            <a:custGeom>
              <a:avLst/>
              <a:gdLst/>
              <a:ahLst/>
              <a:cxnLst/>
              <a:rect l="l" t="t" r="r" b="b"/>
              <a:pathLst>
                <a:path w="830210" h="223420">
                  <a:moveTo>
                    <a:pt x="7368" y="0"/>
                  </a:moveTo>
                  <a:lnTo>
                    <a:pt x="822842" y="0"/>
                  </a:lnTo>
                  <a:cubicBezTo>
                    <a:pt x="826912" y="0"/>
                    <a:pt x="830210" y="3299"/>
                    <a:pt x="830210" y="7368"/>
                  </a:cubicBezTo>
                  <a:lnTo>
                    <a:pt x="830210" y="216051"/>
                  </a:lnTo>
                  <a:cubicBezTo>
                    <a:pt x="830210" y="220121"/>
                    <a:pt x="826912" y="223420"/>
                    <a:pt x="822842" y="223420"/>
                  </a:cubicBezTo>
                  <a:lnTo>
                    <a:pt x="7368" y="223420"/>
                  </a:lnTo>
                  <a:cubicBezTo>
                    <a:pt x="3299" y="223420"/>
                    <a:pt x="0" y="220121"/>
                    <a:pt x="0" y="216051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7F221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30210" cy="28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199" b="1" spc="1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PALING DIKENAL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48887" y="2477876"/>
            <a:ext cx="3152205" cy="848296"/>
            <a:chOff x="0" y="0"/>
            <a:chExt cx="830210" cy="2234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0210" cy="223420"/>
            </a:xfrm>
            <a:custGeom>
              <a:avLst/>
              <a:gdLst/>
              <a:ahLst/>
              <a:cxnLst/>
              <a:rect l="l" t="t" r="r" b="b"/>
              <a:pathLst>
                <a:path w="830210" h="223420">
                  <a:moveTo>
                    <a:pt x="7368" y="0"/>
                  </a:moveTo>
                  <a:lnTo>
                    <a:pt x="822842" y="0"/>
                  </a:lnTo>
                  <a:cubicBezTo>
                    <a:pt x="826912" y="0"/>
                    <a:pt x="830210" y="3299"/>
                    <a:pt x="830210" y="7368"/>
                  </a:cubicBezTo>
                  <a:lnTo>
                    <a:pt x="830210" y="216051"/>
                  </a:lnTo>
                  <a:cubicBezTo>
                    <a:pt x="830210" y="220121"/>
                    <a:pt x="826912" y="223420"/>
                    <a:pt x="822842" y="223420"/>
                  </a:cubicBezTo>
                  <a:lnTo>
                    <a:pt x="7368" y="223420"/>
                  </a:lnTo>
                  <a:cubicBezTo>
                    <a:pt x="3299" y="223420"/>
                    <a:pt x="0" y="220121"/>
                    <a:pt x="0" y="216051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7F221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30210" cy="28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199" b="1" spc="1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PALING MAJU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4510" y="4752204"/>
            <a:ext cx="3152205" cy="848296"/>
            <a:chOff x="0" y="0"/>
            <a:chExt cx="830210" cy="2234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0210" cy="223420"/>
            </a:xfrm>
            <a:custGeom>
              <a:avLst/>
              <a:gdLst/>
              <a:ahLst/>
              <a:cxnLst/>
              <a:rect l="l" t="t" r="r" b="b"/>
              <a:pathLst>
                <a:path w="830210" h="223420">
                  <a:moveTo>
                    <a:pt x="7368" y="0"/>
                  </a:moveTo>
                  <a:lnTo>
                    <a:pt x="822842" y="0"/>
                  </a:lnTo>
                  <a:cubicBezTo>
                    <a:pt x="826912" y="0"/>
                    <a:pt x="830210" y="3299"/>
                    <a:pt x="830210" y="7368"/>
                  </a:cubicBezTo>
                  <a:lnTo>
                    <a:pt x="830210" y="216051"/>
                  </a:lnTo>
                  <a:cubicBezTo>
                    <a:pt x="830210" y="220121"/>
                    <a:pt x="826912" y="223420"/>
                    <a:pt x="822842" y="223420"/>
                  </a:cubicBezTo>
                  <a:lnTo>
                    <a:pt x="7368" y="223420"/>
                  </a:lnTo>
                  <a:cubicBezTo>
                    <a:pt x="3299" y="223420"/>
                    <a:pt x="0" y="220121"/>
                    <a:pt x="0" y="216051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D75B3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30210" cy="28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199" b="1" spc="10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PALING DI DEPAN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64841" y="727943"/>
            <a:ext cx="9958317" cy="117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16"/>
              </a:lnSpc>
              <a:spcBef>
                <a:spcPct val="0"/>
              </a:spcBef>
            </a:pPr>
            <a:r>
              <a:rPr lang="en-US" sz="3600" b="1" spc="107">
                <a:solidFill>
                  <a:srgbClr val="191919"/>
                </a:solidFill>
                <a:latin typeface="TT Drugs Bold"/>
                <a:ea typeface="TT Drugs Bold"/>
                <a:cs typeface="TT Drugs Bold"/>
                <a:sym typeface="TT Drugs Bold"/>
              </a:rPr>
              <a:t>ARTIKULASI / PEMAKNAAN “</a:t>
            </a:r>
            <a:r>
              <a:rPr lang="en-US" sz="3600" b="1" spc="107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TERKEMUKA</a:t>
            </a:r>
            <a:r>
              <a:rPr lang="en-US" sz="3600" b="1" spc="107">
                <a:solidFill>
                  <a:srgbClr val="191919"/>
                </a:solidFill>
                <a:latin typeface="TT Drugs Bold"/>
                <a:ea typeface="TT Drugs Bold"/>
                <a:cs typeface="TT Drugs Bold"/>
                <a:sym typeface="TT Drugs Bold"/>
              </a:rPr>
              <a:t>”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01093" y="2902024"/>
            <a:ext cx="2085816" cy="0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9679109" y="2902024"/>
            <a:ext cx="2083087" cy="9557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3" name="AutoShape 23"/>
          <p:cNvSpPr/>
          <p:nvPr/>
        </p:nvSpPr>
        <p:spPr>
          <a:xfrm>
            <a:off x="4716716" y="5176352"/>
            <a:ext cx="2970715" cy="24526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6401093" y="7975809"/>
            <a:ext cx="2085816" cy="0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triangle" w="lg" len="med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-5400000">
            <a:off x="7662354" y="3688478"/>
            <a:ext cx="1649109" cy="0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-5400000">
            <a:off x="8874746" y="3668287"/>
            <a:ext cx="1608726" cy="0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rot="-5400000">
            <a:off x="7866044" y="7358607"/>
            <a:ext cx="1241729" cy="0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-5400000">
            <a:off x="9020145" y="7358607"/>
            <a:ext cx="1241729" cy="0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10290533" y="5176352"/>
            <a:ext cx="2943326" cy="9557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0" name="Group 30"/>
          <p:cNvGrpSpPr/>
          <p:nvPr/>
        </p:nvGrpSpPr>
        <p:grpSpPr>
          <a:xfrm>
            <a:off x="7360827" y="3496439"/>
            <a:ext cx="3359826" cy="335982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75B3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799" b="1" spc="139">
                  <a:solidFill>
                    <a:srgbClr val="7F221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TERKEMUKA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9660204" y="7970476"/>
            <a:ext cx="2101992" cy="5333"/>
          </a:xfrm>
          <a:prstGeom prst="line">
            <a:avLst/>
          </a:prstGeom>
          <a:ln w="38100" cap="flat">
            <a:solidFill>
              <a:srgbClr val="A8A8A8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4" name="TextBox 34"/>
          <p:cNvSpPr txBox="1"/>
          <p:nvPr/>
        </p:nvSpPr>
        <p:spPr>
          <a:xfrm>
            <a:off x="726162" y="1009650"/>
            <a:ext cx="283488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600" y="1019175"/>
            <a:ext cx="1406622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Core Values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88748" y="6621497"/>
            <a:ext cx="3976213" cy="1059495"/>
            <a:chOff x="0" y="0"/>
            <a:chExt cx="5301617" cy="1412659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530161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Shiddiq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65501"/>
              <a:ext cx="5301617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4494785" y="3400376"/>
            <a:ext cx="0" cy="5432644"/>
          </a:xfrm>
          <a:prstGeom prst="line">
            <a:avLst/>
          </a:prstGeom>
          <a:ln w="19050" cap="rnd">
            <a:solidFill>
              <a:srgbClr val="D75B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739140" y="1009650"/>
            <a:ext cx="280035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4540" y="4735573"/>
            <a:ext cx="367475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10800"/>
              </a:lnSpc>
              <a:spcBef>
                <a:spcPct val="0"/>
              </a:spcBef>
            </a:pPr>
            <a:r>
              <a:rPr lang="ar-EG" sz="90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  <a:rtl/>
              </a:rPr>
              <a:t>الصدّيق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43937" y="6621497"/>
            <a:ext cx="3976213" cy="1059462"/>
            <a:chOff x="0" y="0"/>
            <a:chExt cx="5301617" cy="14126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5301617" cy="647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Fathonah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65457"/>
              <a:ext cx="5301617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9072562" y="3400376"/>
            <a:ext cx="0" cy="5432644"/>
          </a:xfrm>
          <a:prstGeom prst="line">
            <a:avLst/>
          </a:prstGeom>
          <a:ln w="19050" cap="rnd">
            <a:solidFill>
              <a:srgbClr val="D75B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4994667" y="4811773"/>
            <a:ext cx="367475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10800"/>
              </a:lnSpc>
              <a:spcBef>
                <a:spcPct val="0"/>
              </a:spcBef>
            </a:pPr>
            <a:r>
              <a:rPr lang="ar-EG" sz="90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  <a:rtl/>
              </a:rPr>
              <a:t>فَطَانَةٌ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477375" y="6621497"/>
            <a:ext cx="3976213" cy="1059495"/>
            <a:chOff x="0" y="0"/>
            <a:chExt cx="5301617" cy="141265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530161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Amanah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65501"/>
              <a:ext cx="5301617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13458350" y="3400376"/>
            <a:ext cx="0" cy="5432644"/>
          </a:xfrm>
          <a:prstGeom prst="line">
            <a:avLst/>
          </a:prstGeom>
          <a:ln w="19050" cap="rnd">
            <a:solidFill>
              <a:srgbClr val="D75B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9628105" y="4735573"/>
            <a:ext cx="367475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10800"/>
              </a:lnSpc>
              <a:spcBef>
                <a:spcPct val="0"/>
              </a:spcBef>
            </a:pPr>
            <a:r>
              <a:rPr lang="ar-EG" sz="90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  <a:rtl/>
              </a:rPr>
              <a:t>أمانة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807502" y="6621497"/>
            <a:ext cx="3976213" cy="1059495"/>
            <a:chOff x="0" y="0"/>
            <a:chExt cx="5301617" cy="1412659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38100"/>
              <a:ext cx="530161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Tabligh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65501"/>
              <a:ext cx="5301617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958232" y="4735573"/>
            <a:ext cx="367475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10800"/>
              </a:lnSpc>
              <a:spcBef>
                <a:spcPct val="0"/>
              </a:spcBef>
            </a:pPr>
            <a:r>
              <a:rPr lang="ar-EG" sz="9000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  <a:rtl/>
              </a:rPr>
              <a:t>تبليغ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4912" y="2647315"/>
            <a:ext cx="5087513" cy="50875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0" cap="sq">
              <a:solidFill>
                <a:srgbClr val="D75B3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22906" y="2561245"/>
            <a:ext cx="2098258" cy="20982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66836" y="2561245"/>
            <a:ext cx="2098258" cy="209825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22906" y="5627497"/>
            <a:ext cx="2098258" cy="209825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66836" y="5627497"/>
            <a:ext cx="2098258" cy="20982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0"/>
              <a:ext cx="6604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725741" y="2776037"/>
            <a:ext cx="1380449" cy="1668674"/>
          </a:xfrm>
          <a:custGeom>
            <a:avLst/>
            <a:gdLst/>
            <a:ahLst/>
            <a:cxnLst/>
            <a:rect l="l" t="t" r="r" b="b"/>
            <a:pathLst>
              <a:path w="1380449" h="1668674">
                <a:moveTo>
                  <a:pt x="0" y="0"/>
                </a:moveTo>
                <a:lnTo>
                  <a:pt x="1380448" y="0"/>
                </a:lnTo>
                <a:lnTo>
                  <a:pt x="1380448" y="1668674"/>
                </a:lnTo>
                <a:lnTo>
                  <a:pt x="0" y="1668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229498" y="2919375"/>
            <a:ext cx="1285075" cy="1381999"/>
          </a:xfrm>
          <a:custGeom>
            <a:avLst/>
            <a:gdLst/>
            <a:ahLst/>
            <a:cxnLst/>
            <a:rect l="l" t="t" r="r" b="b"/>
            <a:pathLst>
              <a:path w="1285075" h="1381999">
                <a:moveTo>
                  <a:pt x="0" y="0"/>
                </a:moveTo>
                <a:lnTo>
                  <a:pt x="1285074" y="0"/>
                </a:lnTo>
                <a:lnTo>
                  <a:pt x="1285074" y="1381998"/>
                </a:lnTo>
                <a:lnTo>
                  <a:pt x="0" y="1381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250723" y="6064936"/>
            <a:ext cx="1242624" cy="1223381"/>
          </a:xfrm>
          <a:custGeom>
            <a:avLst/>
            <a:gdLst/>
            <a:ahLst/>
            <a:cxnLst/>
            <a:rect l="l" t="t" r="r" b="b"/>
            <a:pathLst>
              <a:path w="1242624" h="1223381">
                <a:moveTo>
                  <a:pt x="0" y="0"/>
                </a:moveTo>
                <a:lnTo>
                  <a:pt x="1242624" y="0"/>
                </a:lnTo>
                <a:lnTo>
                  <a:pt x="1242624" y="1223380"/>
                </a:lnTo>
                <a:lnTo>
                  <a:pt x="0" y="1223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90312" y="6144934"/>
            <a:ext cx="1651305" cy="1063385"/>
          </a:xfrm>
          <a:custGeom>
            <a:avLst/>
            <a:gdLst/>
            <a:ahLst/>
            <a:cxnLst/>
            <a:rect l="l" t="t" r="r" b="b"/>
            <a:pathLst>
              <a:path w="1651305" h="1063385">
                <a:moveTo>
                  <a:pt x="0" y="0"/>
                </a:moveTo>
                <a:lnTo>
                  <a:pt x="1651306" y="0"/>
                </a:lnTo>
                <a:lnTo>
                  <a:pt x="1651306" y="1063385"/>
                </a:lnTo>
                <a:lnTo>
                  <a:pt x="0" y="1063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028700" y="2226945"/>
            <a:ext cx="4322943" cy="2118360"/>
            <a:chOff x="0" y="0"/>
            <a:chExt cx="5763925" cy="282448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28575"/>
              <a:ext cx="5763925" cy="590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sz="2800" b="1" spc="84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SIFAT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778087"/>
              <a:ext cx="5763925" cy="20463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80"/>
                </a:lnSpc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Lembaga DDR bersifat sebagai </a:t>
              </a:r>
              <a:r>
                <a:rPr lang="en-US" sz="2200" b="1" i="1" spc="33">
                  <a:solidFill>
                    <a:srgbClr val="7F2218"/>
                  </a:solidFill>
                  <a:latin typeface="Aileron Bold Italics"/>
                  <a:ea typeface="Aileron Bold Italics"/>
                  <a:cs typeface="Aileron Bold Italics"/>
                  <a:sym typeface="Aileron Bold Italics"/>
                </a:rPr>
                <a:t>Think Tank</a:t>
              </a:r>
              <a:r>
                <a:rPr lang="en-US" sz="2200" b="1" i="1" spc="33">
                  <a:solidFill>
                    <a:srgbClr val="191919"/>
                  </a:solidFill>
                  <a:latin typeface="Aileron Bold Italics"/>
                  <a:ea typeface="Aileron Bold Italics"/>
                  <a:cs typeface="Aileron Bold Italics"/>
                  <a:sym typeface="Aileron Bold Italics"/>
                </a:rPr>
                <a:t> </a:t>
              </a: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yang akan memberikan ide, gagasan, dan pemikiran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068300" y="2226945"/>
            <a:ext cx="4191000" cy="2118360"/>
            <a:chOff x="0" y="0"/>
            <a:chExt cx="5588000" cy="282448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28575"/>
              <a:ext cx="5588000" cy="590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spc="84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OPERASIONAL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778087"/>
              <a:ext cx="5588000" cy="20463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Lembaga dapat terlibat dalam kegiatan operasional dengan peran sebagai katalisator dan sifatnya </a:t>
              </a:r>
              <a:r>
                <a:rPr lang="en-US" sz="2200" b="1" spc="33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adhoc</a:t>
              </a: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064803"/>
            <a:ext cx="4322943" cy="2118624"/>
            <a:chOff x="0" y="0"/>
            <a:chExt cx="5763925" cy="2824833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28575"/>
              <a:ext cx="5763925" cy="590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sz="2800" b="1" spc="84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PROGRAM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778087"/>
              <a:ext cx="5763925" cy="2046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080"/>
                </a:lnSpc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Setiap Departemen akan memiliki </a:t>
              </a:r>
              <a:r>
                <a:rPr lang="en-US" sz="2200" b="1" spc="33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Program Kerja</a:t>
              </a: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yang disesuaikan dengan kebutuhan dan kemampuannya.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068300" y="6136958"/>
            <a:ext cx="4191000" cy="2899410"/>
            <a:chOff x="0" y="0"/>
            <a:chExt cx="5588000" cy="3865880"/>
          </a:xfrm>
        </p:grpSpPr>
        <p:sp>
          <p:nvSpPr>
            <p:cNvPr id="31" name="TextBox 31"/>
            <p:cNvSpPr txBox="1"/>
            <p:nvPr/>
          </p:nvSpPr>
          <p:spPr>
            <a:xfrm>
              <a:off x="0" y="-28575"/>
              <a:ext cx="5588000" cy="590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1" spc="84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TATA KELOLA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778087"/>
              <a:ext cx="5588000" cy="3087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Musyawarah Tahunan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Rapat Pleno Pengurus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Rapat Terbatas Pimpinan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Rapat Dewan Pertimbangan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Rapat Dewan Pakar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Rapat Bidang / Departemen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982528" y="4841875"/>
            <a:ext cx="4322943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1" spc="104">
                <a:solidFill>
                  <a:srgbClr val="7F2218"/>
                </a:solidFill>
                <a:latin typeface="Aileron Bold"/>
                <a:ea typeface="Aileron Bold"/>
                <a:cs typeface="Aileron Bold"/>
                <a:sym typeface="Aileron Bold"/>
              </a:rPr>
              <a:t>ORIENTASI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6283" y="1009650"/>
            <a:ext cx="28575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31693" y="1965938"/>
            <a:ext cx="1553095" cy="1781194"/>
            <a:chOff x="0" y="0"/>
            <a:chExt cx="2070793" cy="237492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70793" cy="2374925"/>
              <a:chOff x="0" y="0"/>
              <a:chExt cx="695560" cy="79771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95560" cy="797715"/>
              </a:xfrm>
              <a:custGeom>
                <a:avLst/>
                <a:gdLst/>
                <a:ahLst/>
                <a:cxnLst/>
                <a:rect l="l" t="t" r="r" b="b"/>
                <a:pathLst>
                  <a:path w="695560" h="797715">
                    <a:moveTo>
                      <a:pt x="347780" y="0"/>
                    </a:moveTo>
                    <a:lnTo>
                      <a:pt x="695560" y="203200"/>
                    </a:lnTo>
                    <a:lnTo>
                      <a:pt x="695560" y="594515"/>
                    </a:lnTo>
                    <a:lnTo>
                      <a:pt x="347780" y="797715"/>
                    </a:lnTo>
                    <a:lnTo>
                      <a:pt x="0" y="594515"/>
                    </a:lnTo>
                    <a:lnTo>
                      <a:pt x="0" y="203200"/>
                    </a:lnTo>
                    <a:lnTo>
                      <a:pt x="347780" y="0"/>
                    </a:lnTo>
                    <a:close/>
                  </a:path>
                </a:pathLst>
              </a:custGeom>
              <a:solidFill>
                <a:srgbClr val="C7BCE4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111125"/>
                <a:ext cx="695560" cy="546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43528" y="795594"/>
              <a:ext cx="783738" cy="783738"/>
            </a:xfrm>
            <a:custGeom>
              <a:avLst/>
              <a:gdLst/>
              <a:ahLst/>
              <a:cxnLst/>
              <a:rect l="l" t="t" r="r" b="b"/>
              <a:pathLst>
                <a:path w="783738" h="783738">
                  <a:moveTo>
                    <a:pt x="0" y="0"/>
                  </a:moveTo>
                  <a:lnTo>
                    <a:pt x="783737" y="0"/>
                  </a:lnTo>
                  <a:lnTo>
                    <a:pt x="783737" y="783737"/>
                  </a:lnTo>
                  <a:lnTo>
                    <a:pt x="0" y="783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483924" y="3644968"/>
            <a:ext cx="3347137" cy="3838722"/>
            <a:chOff x="0" y="0"/>
            <a:chExt cx="695560" cy="7977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5560" cy="797715"/>
            </a:xfrm>
            <a:custGeom>
              <a:avLst/>
              <a:gdLst/>
              <a:ahLst/>
              <a:cxnLst/>
              <a:rect l="l" t="t" r="r" b="b"/>
              <a:pathLst>
                <a:path w="695560" h="797715">
                  <a:moveTo>
                    <a:pt x="347780" y="0"/>
                  </a:moveTo>
                  <a:lnTo>
                    <a:pt x="695560" y="203200"/>
                  </a:lnTo>
                  <a:lnTo>
                    <a:pt x="695560" y="594515"/>
                  </a:lnTo>
                  <a:lnTo>
                    <a:pt x="347780" y="797715"/>
                  </a:lnTo>
                  <a:lnTo>
                    <a:pt x="0" y="594515"/>
                  </a:lnTo>
                  <a:lnTo>
                    <a:pt x="0" y="203200"/>
                  </a:lnTo>
                  <a:lnTo>
                    <a:pt x="347780" y="0"/>
                  </a:ln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11125"/>
              <a:ext cx="695560" cy="546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4"/>
                </a:lnSpc>
              </a:pPr>
              <a:r>
                <a:rPr lang="en-US" sz="2600" b="1" spc="101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</a:t>
              </a:r>
              <a:r>
                <a:rPr lang="en-US" sz="2600" spc="101">
                  <a:solidFill>
                    <a:srgbClr val="7F2218"/>
                  </a:solidFill>
                  <a:latin typeface="Aileron"/>
                  <a:ea typeface="Aileron"/>
                  <a:cs typeface="Aileron"/>
                  <a:sym typeface="Aileron"/>
                </a:rPr>
                <a:t>EWAN</a:t>
              </a:r>
              <a:r>
                <a:rPr lang="en-US" sz="2600" b="1" spc="101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 D</a:t>
              </a:r>
              <a:r>
                <a:rPr lang="en-US" sz="2600" spc="101">
                  <a:solidFill>
                    <a:srgbClr val="7F2218"/>
                  </a:solidFill>
                  <a:latin typeface="Aileron"/>
                  <a:ea typeface="Aileron"/>
                  <a:cs typeface="Aileron"/>
                  <a:sym typeface="Aileron"/>
                </a:rPr>
                <a:t>AKWAH</a:t>
              </a:r>
              <a:r>
                <a:rPr lang="en-US" sz="2600" b="1" spc="101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 R</a:t>
              </a:r>
              <a:r>
                <a:rPr lang="en-US" sz="2600" spc="101">
                  <a:solidFill>
                    <a:srgbClr val="7F2218"/>
                  </a:solidFill>
                  <a:latin typeface="Aileron"/>
                  <a:ea typeface="Aileron"/>
                  <a:cs typeface="Aileron"/>
                  <a:sym typeface="Aileron"/>
                </a:rPr>
                <a:t>ISALAH</a:t>
              </a:r>
            </a:p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r>
                <a:rPr lang="en-US" sz="2600" spc="101">
                  <a:solidFill>
                    <a:srgbClr val="7F2218"/>
                  </a:solidFill>
                  <a:latin typeface="Aileron"/>
                  <a:ea typeface="Aileron"/>
                  <a:cs typeface="Aileron"/>
                  <a:sym typeface="Aileron"/>
                </a:rPr>
                <a:t>“</a:t>
              </a:r>
              <a:r>
                <a:rPr lang="en-US" sz="2600" b="1" spc="101">
                  <a:solidFill>
                    <a:srgbClr val="7F2218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DDR”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30197" y="1965938"/>
            <a:ext cx="1553095" cy="1781194"/>
            <a:chOff x="0" y="0"/>
            <a:chExt cx="2070793" cy="237492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070793" cy="2374925"/>
              <a:chOff x="0" y="0"/>
              <a:chExt cx="695560" cy="79771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95560" cy="797715"/>
              </a:xfrm>
              <a:custGeom>
                <a:avLst/>
                <a:gdLst/>
                <a:ahLst/>
                <a:cxnLst/>
                <a:rect l="l" t="t" r="r" b="b"/>
                <a:pathLst>
                  <a:path w="695560" h="797715">
                    <a:moveTo>
                      <a:pt x="347780" y="0"/>
                    </a:moveTo>
                    <a:lnTo>
                      <a:pt x="695560" y="203200"/>
                    </a:lnTo>
                    <a:lnTo>
                      <a:pt x="695560" y="594515"/>
                    </a:lnTo>
                    <a:lnTo>
                      <a:pt x="347780" y="797715"/>
                    </a:lnTo>
                    <a:lnTo>
                      <a:pt x="0" y="594515"/>
                    </a:lnTo>
                    <a:lnTo>
                      <a:pt x="0" y="203200"/>
                    </a:lnTo>
                    <a:lnTo>
                      <a:pt x="347780" y="0"/>
                    </a:lnTo>
                    <a:close/>
                  </a:path>
                </a:pathLst>
              </a:custGeom>
              <a:solidFill>
                <a:srgbClr val="E2CAF1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111125"/>
                <a:ext cx="695560" cy="546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643528" y="795594"/>
              <a:ext cx="783738" cy="783738"/>
            </a:xfrm>
            <a:custGeom>
              <a:avLst/>
              <a:gdLst/>
              <a:ahLst/>
              <a:cxnLst/>
              <a:rect l="l" t="t" r="r" b="b"/>
              <a:pathLst>
                <a:path w="783738" h="783738">
                  <a:moveTo>
                    <a:pt x="0" y="0"/>
                  </a:moveTo>
                  <a:lnTo>
                    <a:pt x="783737" y="0"/>
                  </a:lnTo>
                  <a:lnTo>
                    <a:pt x="783737" y="783737"/>
                  </a:lnTo>
                  <a:lnTo>
                    <a:pt x="0" y="783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030197" y="5804661"/>
            <a:ext cx="1553095" cy="1781194"/>
            <a:chOff x="0" y="0"/>
            <a:chExt cx="695560" cy="7977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5560" cy="797715"/>
            </a:xfrm>
            <a:custGeom>
              <a:avLst/>
              <a:gdLst/>
              <a:ahLst/>
              <a:cxnLst/>
              <a:rect l="l" t="t" r="r" b="b"/>
              <a:pathLst>
                <a:path w="695560" h="797715">
                  <a:moveTo>
                    <a:pt x="347780" y="0"/>
                  </a:moveTo>
                  <a:lnTo>
                    <a:pt x="695560" y="203200"/>
                  </a:lnTo>
                  <a:lnTo>
                    <a:pt x="695560" y="594515"/>
                  </a:lnTo>
                  <a:lnTo>
                    <a:pt x="347780" y="797715"/>
                  </a:lnTo>
                  <a:lnTo>
                    <a:pt x="0" y="594515"/>
                  </a:lnTo>
                  <a:lnTo>
                    <a:pt x="0" y="203200"/>
                  </a:lnTo>
                  <a:lnTo>
                    <a:pt x="347780" y="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7F2218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11125"/>
              <a:ext cx="695560" cy="546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31693" y="5804661"/>
            <a:ext cx="1553095" cy="1781194"/>
            <a:chOff x="0" y="0"/>
            <a:chExt cx="2070793" cy="2374925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070793" cy="2374925"/>
              <a:chOff x="0" y="0"/>
              <a:chExt cx="695560" cy="79771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95560" cy="797715"/>
              </a:xfrm>
              <a:custGeom>
                <a:avLst/>
                <a:gdLst/>
                <a:ahLst/>
                <a:cxnLst/>
                <a:rect l="l" t="t" r="r" b="b"/>
                <a:pathLst>
                  <a:path w="695560" h="797715">
                    <a:moveTo>
                      <a:pt x="347780" y="0"/>
                    </a:moveTo>
                    <a:lnTo>
                      <a:pt x="695560" y="203200"/>
                    </a:lnTo>
                    <a:lnTo>
                      <a:pt x="695560" y="594515"/>
                    </a:lnTo>
                    <a:lnTo>
                      <a:pt x="347780" y="797715"/>
                    </a:lnTo>
                    <a:lnTo>
                      <a:pt x="0" y="594515"/>
                    </a:lnTo>
                    <a:lnTo>
                      <a:pt x="0" y="203200"/>
                    </a:lnTo>
                    <a:lnTo>
                      <a:pt x="347780" y="0"/>
                    </a:lnTo>
                    <a:close/>
                  </a:path>
                </a:pathLst>
              </a:custGeom>
              <a:solidFill>
                <a:srgbClr val="9667B6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111125"/>
                <a:ext cx="695560" cy="5468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00519" y="852585"/>
              <a:ext cx="669755" cy="669755"/>
            </a:xfrm>
            <a:custGeom>
              <a:avLst/>
              <a:gdLst/>
              <a:ahLst/>
              <a:cxnLst/>
              <a:rect l="l" t="t" r="r" b="b"/>
              <a:pathLst>
                <a:path w="669755" h="669755">
                  <a:moveTo>
                    <a:pt x="0" y="0"/>
                  </a:moveTo>
                  <a:lnTo>
                    <a:pt x="669755" y="0"/>
                  </a:lnTo>
                  <a:lnTo>
                    <a:pt x="669755" y="669755"/>
                  </a:lnTo>
                  <a:lnTo>
                    <a:pt x="0" y="669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443545" y="7754053"/>
            <a:ext cx="4727913" cy="765306"/>
            <a:chOff x="0" y="0"/>
            <a:chExt cx="3435741" cy="55614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35741" cy="556143"/>
            </a:xfrm>
            <a:custGeom>
              <a:avLst/>
              <a:gdLst/>
              <a:ahLst/>
              <a:cxnLst/>
              <a:rect l="l" t="t" r="r" b="b"/>
              <a:pathLst>
                <a:path w="3435741" h="556143">
                  <a:moveTo>
                    <a:pt x="3232541" y="0"/>
                  </a:moveTo>
                  <a:cubicBezTo>
                    <a:pt x="3344765" y="0"/>
                    <a:pt x="3435741" y="124497"/>
                    <a:pt x="3435741" y="278071"/>
                  </a:cubicBezTo>
                  <a:cubicBezTo>
                    <a:pt x="3435741" y="431646"/>
                    <a:pt x="3344765" y="556143"/>
                    <a:pt x="3232541" y="556143"/>
                  </a:cubicBezTo>
                  <a:lnTo>
                    <a:pt x="203200" y="556143"/>
                  </a:lnTo>
                  <a:cubicBezTo>
                    <a:pt x="90976" y="556143"/>
                    <a:pt x="0" y="431646"/>
                    <a:pt x="0" y="278071"/>
                  </a:cubicBezTo>
                  <a:cubicBezTo>
                    <a:pt x="0" y="12449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435741" cy="546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70"/>
                </a:lnSpc>
                <a:spcBef>
                  <a:spcPct val="0"/>
                </a:spcBef>
              </a:pPr>
              <a:r>
                <a:rPr lang="en-US" sz="1700" b="1" spc="5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TOKOH MASYARAKAT / PUBLIK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30197" y="1965938"/>
            <a:ext cx="1553095" cy="1781194"/>
            <a:chOff x="0" y="0"/>
            <a:chExt cx="695560" cy="7977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5560" cy="797715"/>
            </a:xfrm>
            <a:custGeom>
              <a:avLst/>
              <a:gdLst/>
              <a:ahLst/>
              <a:cxnLst/>
              <a:rect l="l" t="t" r="r" b="b"/>
              <a:pathLst>
                <a:path w="695560" h="797715">
                  <a:moveTo>
                    <a:pt x="347780" y="0"/>
                  </a:moveTo>
                  <a:lnTo>
                    <a:pt x="695560" y="203200"/>
                  </a:lnTo>
                  <a:lnTo>
                    <a:pt x="695560" y="594515"/>
                  </a:lnTo>
                  <a:lnTo>
                    <a:pt x="347780" y="797715"/>
                  </a:lnTo>
                  <a:lnTo>
                    <a:pt x="0" y="594515"/>
                  </a:lnTo>
                  <a:lnTo>
                    <a:pt x="0" y="203200"/>
                  </a:lnTo>
                  <a:lnTo>
                    <a:pt x="347780" y="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111125"/>
              <a:ext cx="695560" cy="546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75265" y="3989619"/>
            <a:ext cx="3862960" cy="588262"/>
            <a:chOff x="0" y="0"/>
            <a:chExt cx="2807186" cy="427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07185" cy="427486"/>
            </a:xfrm>
            <a:custGeom>
              <a:avLst/>
              <a:gdLst/>
              <a:ahLst/>
              <a:cxnLst/>
              <a:rect l="l" t="t" r="r" b="b"/>
              <a:pathLst>
                <a:path w="2807185" h="427486">
                  <a:moveTo>
                    <a:pt x="2603985" y="0"/>
                  </a:moveTo>
                  <a:cubicBezTo>
                    <a:pt x="2716210" y="0"/>
                    <a:pt x="2807185" y="95696"/>
                    <a:pt x="2807185" y="213743"/>
                  </a:cubicBezTo>
                  <a:cubicBezTo>
                    <a:pt x="2807185" y="331790"/>
                    <a:pt x="2716210" y="427486"/>
                    <a:pt x="2603985" y="427486"/>
                  </a:cubicBezTo>
                  <a:lnTo>
                    <a:pt x="203200" y="427486"/>
                  </a:lnTo>
                  <a:cubicBezTo>
                    <a:pt x="90976" y="427486"/>
                    <a:pt x="0" y="331790"/>
                    <a:pt x="0" y="213743"/>
                  </a:cubicBezTo>
                  <a:cubicBezTo>
                    <a:pt x="0" y="956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7F2218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2807186" cy="41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70"/>
                </a:lnSpc>
                <a:spcBef>
                  <a:spcPct val="0"/>
                </a:spcBef>
              </a:pPr>
              <a:r>
                <a:rPr lang="en-US" sz="1700" b="1" spc="5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LEMBAGA PEMERINTAH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31693" y="1965938"/>
            <a:ext cx="1553095" cy="1781194"/>
            <a:chOff x="0" y="0"/>
            <a:chExt cx="695560" cy="79771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5560" cy="797715"/>
            </a:xfrm>
            <a:custGeom>
              <a:avLst/>
              <a:gdLst/>
              <a:ahLst/>
              <a:cxnLst/>
              <a:rect l="l" t="t" r="r" b="b"/>
              <a:pathLst>
                <a:path w="695560" h="797715">
                  <a:moveTo>
                    <a:pt x="347780" y="0"/>
                  </a:moveTo>
                  <a:lnTo>
                    <a:pt x="695560" y="203200"/>
                  </a:lnTo>
                  <a:lnTo>
                    <a:pt x="695560" y="594515"/>
                  </a:lnTo>
                  <a:lnTo>
                    <a:pt x="347780" y="797715"/>
                  </a:lnTo>
                  <a:lnTo>
                    <a:pt x="0" y="594515"/>
                  </a:lnTo>
                  <a:lnTo>
                    <a:pt x="0" y="203200"/>
                  </a:lnTo>
                  <a:lnTo>
                    <a:pt x="347780" y="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11125"/>
              <a:ext cx="695560" cy="546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4"/>
                </a:lnSpc>
              </a:pPr>
              <a:endParaRPr/>
            </a:p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576760" y="4049438"/>
            <a:ext cx="4102863" cy="588262"/>
            <a:chOff x="0" y="0"/>
            <a:chExt cx="2981522" cy="42748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81521" cy="427486"/>
            </a:xfrm>
            <a:custGeom>
              <a:avLst/>
              <a:gdLst/>
              <a:ahLst/>
              <a:cxnLst/>
              <a:rect l="l" t="t" r="r" b="b"/>
              <a:pathLst>
                <a:path w="2981521" h="427486">
                  <a:moveTo>
                    <a:pt x="2778321" y="0"/>
                  </a:moveTo>
                  <a:cubicBezTo>
                    <a:pt x="2890546" y="0"/>
                    <a:pt x="2981521" y="95696"/>
                    <a:pt x="2981521" y="213743"/>
                  </a:cubicBezTo>
                  <a:cubicBezTo>
                    <a:pt x="2981521" y="331790"/>
                    <a:pt x="2890546" y="427486"/>
                    <a:pt x="2778321" y="427486"/>
                  </a:cubicBezTo>
                  <a:lnTo>
                    <a:pt x="203200" y="427486"/>
                  </a:lnTo>
                  <a:cubicBezTo>
                    <a:pt x="90976" y="427486"/>
                    <a:pt x="0" y="331790"/>
                    <a:pt x="0" y="213743"/>
                  </a:cubicBezTo>
                  <a:cubicBezTo>
                    <a:pt x="0" y="956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7F2218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2981522" cy="41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70"/>
                </a:lnSpc>
                <a:spcBef>
                  <a:spcPct val="0"/>
                </a:spcBef>
              </a:pPr>
              <a:r>
                <a:rPr lang="en-US" sz="1700" b="1" spc="5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KELOMPOK MASYARAKAT LAIN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30258" y="5804661"/>
            <a:ext cx="1553095" cy="1781194"/>
            <a:chOff x="0" y="0"/>
            <a:chExt cx="695560" cy="79771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5560" cy="797715"/>
            </a:xfrm>
            <a:custGeom>
              <a:avLst/>
              <a:gdLst/>
              <a:ahLst/>
              <a:cxnLst/>
              <a:rect l="l" t="t" r="r" b="b"/>
              <a:pathLst>
                <a:path w="695560" h="797715">
                  <a:moveTo>
                    <a:pt x="347780" y="0"/>
                  </a:moveTo>
                  <a:lnTo>
                    <a:pt x="695560" y="203200"/>
                  </a:lnTo>
                  <a:lnTo>
                    <a:pt x="695560" y="594515"/>
                  </a:lnTo>
                  <a:lnTo>
                    <a:pt x="347780" y="797715"/>
                  </a:lnTo>
                  <a:lnTo>
                    <a:pt x="0" y="594515"/>
                  </a:lnTo>
                  <a:lnTo>
                    <a:pt x="0" y="203200"/>
                  </a:lnTo>
                  <a:lnTo>
                    <a:pt x="347780" y="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7F2218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111125"/>
              <a:ext cx="695560" cy="546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456809" y="7799639"/>
            <a:ext cx="4102863" cy="588262"/>
            <a:chOff x="0" y="0"/>
            <a:chExt cx="2981522" cy="4274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981521" cy="427486"/>
            </a:xfrm>
            <a:custGeom>
              <a:avLst/>
              <a:gdLst/>
              <a:ahLst/>
              <a:cxnLst/>
              <a:rect l="l" t="t" r="r" b="b"/>
              <a:pathLst>
                <a:path w="2981521" h="427486">
                  <a:moveTo>
                    <a:pt x="2778321" y="0"/>
                  </a:moveTo>
                  <a:cubicBezTo>
                    <a:pt x="2890546" y="0"/>
                    <a:pt x="2981521" y="95696"/>
                    <a:pt x="2981521" y="213743"/>
                  </a:cubicBezTo>
                  <a:cubicBezTo>
                    <a:pt x="2981521" y="331790"/>
                    <a:pt x="2890546" y="427486"/>
                    <a:pt x="2778321" y="427486"/>
                  </a:cubicBezTo>
                  <a:lnTo>
                    <a:pt x="203200" y="427486"/>
                  </a:lnTo>
                  <a:cubicBezTo>
                    <a:pt x="90976" y="427486"/>
                    <a:pt x="0" y="331790"/>
                    <a:pt x="0" y="213743"/>
                  </a:cubicBezTo>
                  <a:cubicBezTo>
                    <a:pt x="0" y="956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2981522" cy="41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70"/>
                </a:lnSpc>
                <a:spcBef>
                  <a:spcPct val="0"/>
                </a:spcBef>
              </a:pPr>
              <a:r>
                <a:rPr lang="en-US" sz="1700" b="1" spc="5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LEMBAGA KEMASYARAKATAN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4382897" y="6452075"/>
            <a:ext cx="849209" cy="486365"/>
          </a:xfrm>
          <a:custGeom>
            <a:avLst/>
            <a:gdLst/>
            <a:ahLst/>
            <a:cxnLst/>
            <a:rect l="l" t="t" r="r" b="b"/>
            <a:pathLst>
              <a:path w="849209" h="486365">
                <a:moveTo>
                  <a:pt x="0" y="0"/>
                </a:moveTo>
                <a:lnTo>
                  <a:pt x="849209" y="0"/>
                </a:lnTo>
                <a:lnTo>
                  <a:pt x="849209" y="486365"/>
                </a:lnTo>
                <a:lnTo>
                  <a:pt x="0" y="486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3074564" y="6395046"/>
            <a:ext cx="864482" cy="600422"/>
          </a:xfrm>
          <a:custGeom>
            <a:avLst/>
            <a:gdLst/>
            <a:ahLst/>
            <a:cxnLst/>
            <a:rect l="l" t="t" r="r" b="b"/>
            <a:pathLst>
              <a:path w="864482" h="600422">
                <a:moveTo>
                  <a:pt x="0" y="0"/>
                </a:moveTo>
                <a:lnTo>
                  <a:pt x="864483" y="0"/>
                </a:lnTo>
                <a:lnTo>
                  <a:pt x="864483" y="600423"/>
                </a:lnTo>
                <a:lnTo>
                  <a:pt x="0" y="600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4382897" y="2369485"/>
            <a:ext cx="847695" cy="907067"/>
          </a:xfrm>
          <a:custGeom>
            <a:avLst/>
            <a:gdLst/>
            <a:ahLst/>
            <a:cxnLst/>
            <a:rect l="l" t="t" r="r" b="b"/>
            <a:pathLst>
              <a:path w="847695" h="907067">
                <a:moveTo>
                  <a:pt x="0" y="0"/>
                </a:moveTo>
                <a:lnTo>
                  <a:pt x="847695" y="0"/>
                </a:lnTo>
                <a:lnTo>
                  <a:pt x="847695" y="907067"/>
                </a:lnTo>
                <a:lnTo>
                  <a:pt x="0" y="907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982339" y="362646"/>
            <a:ext cx="16327161" cy="148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875" b="1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Kemitraan: </a:t>
            </a:r>
          </a:p>
          <a:p>
            <a:pPr marL="0" lvl="0" indent="0" algn="ctr">
              <a:lnSpc>
                <a:spcPts val="5850"/>
              </a:lnSpc>
              <a:spcBef>
                <a:spcPct val="0"/>
              </a:spcBef>
            </a:pPr>
            <a:r>
              <a:rPr lang="en-US" sz="4875" b="1">
                <a:solidFill>
                  <a:srgbClr val="7F2218"/>
                </a:solidFill>
                <a:latin typeface="TT Drugs Bold"/>
                <a:ea typeface="TT Drugs Bold"/>
                <a:cs typeface="TT Drugs Bold"/>
                <a:sym typeface="TT Drugs Bold"/>
              </a:rPr>
              <a:t>Sinergi, Kolaborasi, dan Aliansi</a:t>
            </a:r>
          </a:p>
        </p:txBody>
      </p:sp>
      <p:sp>
        <p:nvSpPr>
          <p:cNvPr id="48" name="AutoShape 48"/>
          <p:cNvSpPr/>
          <p:nvPr/>
        </p:nvSpPr>
        <p:spPr>
          <a:xfrm>
            <a:off x="3420223" y="2083936"/>
            <a:ext cx="610851" cy="380958"/>
          </a:xfrm>
          <a:prstGeom prst="line">
            <a:avLst/>
          </a:prstGeom>
          <a:ln w="19050" cap="rnd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AutoShape 49"/>
          <p:cNvSpPr/>
          <p:nvPr/>
        </p:nvSpPr>
        <p:spPr>
          <a:xfrm flipV="1">
            <a:off x="3420595" y="3149269"/>
            <a:ext cx="610478" cy="383290"/>
          </a:xfrm>
          <a:prstGeom prst="line">
            <a:avLst/>
          </a:prstGeom>
          <a:ln w="28575" cap="rnd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>
            <a:off x="2416246" y="2428423"/>
            <a:ext cx="1614828" cy="282011"/>
          </a:xfrm>
          <a:prstGeom prst="line">
            <a:avLst/>
          </a:prstGeom>
          <a:ln w="19050" cap="flat">
            <a:solidFill>
              <a:srgbClr val="D75B3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 flipV="1">
            <a:off x="2422061" y="2904352"/>
            <a:ext cx="1609012" cy="289584"/>
          </a:xfrm>
          <a:prstGeom prst="line">
            <a:avLst/>
          </a:prstGeom>
          <a:ln w="19050" cap="flat">
            <a:solidFill>
              <a:srgbClr val="D75B3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52" name="TextBox 52"/>
          <p:cNvSpPr txBox="1"/>
          <p:nvPr/>
        </p:nvSpPr>
        <p:spPr>
          <a:xfrm>
            <a:off x="346411" y="2233485"/>
            <a:ext cx="1663900" cy="316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BUMNagari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46411" y="2983793"/>
            <a:ext cx="1663900" cy="30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MUI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25860" y="1720016"/>
            <a:ext cx="1663900" cy="316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Nagari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74668" y="3549907"/>
            <a:ext cx="1663900" cy="30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KAN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184529" y="6507817"/>
            <a:ext cx="1760898" cy="30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DPP IPPSA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047733" y="5655516"/>
            <a:ext cx="1760898" cy="30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DPP SAS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047733" y="7279624"/>
            <a:ext cx="1760898" cy="30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Lembaga lainnya</a:t>
            </a:r>
          </a:p>
        </p:txBody>
      </p:sp>
      <p:sp>
        <p:nvSpPr>
          <p:cNvPr id="59" name="AutoShape 59"/>
          <p:cNvSpPr/>
          <p:nvPr/>
        </p:nvSpPr>
        <p:spPr>
          <a:xfrm flipH="1" flipV="1">
            <a:off x="14293560" y="7065876"/>
            <a:ext cx="655455" cy="421704"/>
          </a:xfrm>
          <a:prstGeom prst="line">
            <a:avLst/>
          </a:prstGeom>
          <a:ln w="28575" cap="rnd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" name="AutoShape 60"/>
          <p:cNvSpPr/>
          <p:nvPr/>
        </p:nvSpPr>
        <p:spPr>
          <a:xfrm flipH="1">
            <a:off x="14293560" y="5891741"/>
            <a:ext cx="608146" cy="407123"/>
          </a:xfrm>
          <a:prstGeom prst="line">
            <a:avLst/>
          </a:prstGeom>
          <a:ln w="28575" cap="rnd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AutoShape 61"/>
          <p:cNvSpPr/>
          <p:nvPr/>
        </p:nvSpPr>
        <p:spPr>
          <a:xfrm flipH="1">
            <a:off x="14283790" y="6695258"/>
            <a:ext cx="1741896" cy="10748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62" name="Freeform 62"/>
          <p:cNvSpPr/>
          <p:nvPr/>
        </p:nvSpPr>
        <p:spPr>
          <a:xfrm>
            <a:off x="13116470" y="2405160"/>
            <a:ext cx="822577" cy="881905"/>
          </a:xfrm>
          <a:custGeom>
            <a:avLst/>
            <a:gdLst/>
            <a:ahLst/>
            <a:cxnLst/>
            <a:rect l="l" t="t" r="r" b="b"/>
            <a:pathLst>
              <a:path w="822577" h="881905">
                <a:moveTo>
                  <a:pt x="0" y="0"/>
                </a:moveTo>
                <a:lnTo>
                  <a:pt x="822577" y="0"/>
                </a:lnTo>
                <a:lnTo>
                  <a:pt x="822577" y="881904"/>
                </a:lnTo>
                <a:lnTo>
                  <a:pt x="0" y="8819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744066" y="1009650"/>
            <a:ext cx="28575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06</a:t>
            </a:r>
          </a:p>
        </p:txBody>
      </p:sp>
      <p:sp>
        <p:nvSpPr>
          <p:cNvPr id="64" name="AutoShape 64"/>
          <p:cNvSpPr/>
          <p:nvPr/>
        </p:nvSpPr>
        <p:spPr>
          <a:xfrm flipH="1">
            <a:off x="14285612" y="1996673"/>
            <a:ext cx="608146" cy="407123"/>
          </a:xfrm>
          <a:prstGeom prst="line">
            <a:avLst/>
          </a:prstGeom>
          <a:ln w="28575" cap="rnd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5047733" y="1614763"/>
            <a:ext cx="1760898" cy="63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Yayasan Gunung Merah </a:t>
            </a:r>
          </a:p>
        </p:txBody>
      </p:sp>
      <p:sp>
        <p:nvSpPr>
          <p:cNvPr id="66" name="AutoShape 66"/>
          <p:cNvSpPr/>
          <p:nvPr/>
        </p:nvSpPr>
        <p:spPr>
          <a:xfrm flipH="1">
            <a:off x="14293648" y="2797983"/>
            <a:ext cx="1741896" cy="10748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 flipH="1" flipV="1">
            <a:off x="14238521" y="3244243"/>
            <a:ext cx="655455" cy="421704"/>
          </a:xfrm>
          <a:prstGeom prst="line">
            <a:avLst/>
          </a:prstGeom>
          <a:ln w="28575" cap="rnd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TextBox 68"/>
          <p:cNvSpPr txBox="1"/>
          <p:nvPr/>
        </p:nvSpPr>
        <p:spPr>
          <a:xfrm>
            <a:off x="16045157" y="2493078"/>
            <a:ext cx="1690682" cy="93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169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Yayasan Merah Putih</a:t>
            </a:r>
          </a:p>
          <a:p>
            <a:pPr algn="l">
              <a:lnSpc>
                <a:spcPts val="2543"/>
              </a:lnSpc>
            </a:pPr>
            <a:endParaRPr lang="en-US" sz="1695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4968064" y="3321992"/>
            <a:ext cx="1760898" cy="63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76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Pihak-pihak lainnya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508" y="1009650"/>
            <a:ext cx="270867" cy="29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07</a:t>
            </a:r>
          </a:p>
        </p:txBody>
      </p:sp>
      <p:sp>
        <p:nvSpPr>
          <p:cNvPr id="3" name="AutoShape 3"/>
          <p:cNvSpPr/>
          <p:nvPr/>
        </p:nvSpPr>
        <p:spPr>
          <a:xfrm>
            <a:off x="5961010" y="2649862"/>
            <a:ext cx="0" cy="96664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" name="Group 4"/>
          <p:cNvGrpSpPr/>
          <p:nvPr/>
        </p:nvGrpSpPr>
        <p:grpSpPr>
          <a:xfrm>
            <a:off x="3846615" y="1694175"/>
            <a:ext cx="4213233" cy="1233020"/>
            <a:chOff x="0" y="0"/>
            <a:chExt cx="999020" cy="2923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9020" cy="292367"/>
            </a:xfrm>
            <a:custGeom>
              <a:avLst/>
              <a:gdLst/>
              <a:ahLst/>
              <a:cxnLst/>
              <a:rect l="l" t="t" r="r" b="b"/>
              <a:pathLst>
                <a:path w="999020" h="292367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273992"/>
                  </a:lnTo>
                  <a:cubicBezTo>
                    <a:pt x="999020" y="284141"/>
                    <a:pt x="990793" y="292367"/>
                    <a:pt x="980645" y="292367"/>
                  </a:cubicBezTo>
                  <a:lnTo>
                    <a:pt x="18375" y="292367"/>
                  </a:lnTo>
                  <a:cubicBezTo>
                    <a:pt x="8227" y="292367"/>
                    <a:pt x="0" y="284141"/>
                    <a:pt x="0" y="273992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B9724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999020" cy="282842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18227" y="1831492"/>
            <a:ext cx="4285566" cy="88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6ECDE"/>
                </a:solidFill>
                <a:latin typeface="Aileron Bold"/>
                <a:ea typeface="Aileron Bold"/>
                <a:cs typeface="Aileron Bold"/>
                <a:sym typeface="Aileron Bold"/>
              </a:rPr>
              <a:t>EXTERNAL ANALYSIS</a:t>
            </a:r>
          </a:p>
        </p:txBody>
      </p:sp>
      <p:sp>
        <p:nvSpPr>
          <p:cNvPr id="8" name="AutoShape 8"/>
          <p:cNvSpPr/>
          <p:nvPr/>
        </p:nvSpPr>
        <p:spPr>
          <a:xfrm rot="5400000">
            <a:off x="-3202371" y="5138738"/>
            <a:ext cx="1031760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2798674" y="243840"/>
            <a:ext cx="1406622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Strategic Formulation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928593" y="5548904"/>
            <a:ext cx="1485831" cy="14858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oval" w="lg" len="lg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3846615" y="3717447"/>
            <a:ext cx="4213233" cy="1633070"/>
            <a:chOff x="0" y="0"/>
            <a:chExt cx="999020" cy="3872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9020" cy="387225"/>
            </a:xfrm>
            <a:custGeom>
              <a:avLst/>
              <a:gdLst/>
              <a:ahLst/>
              <a:cxnLst/>
              <a:rect l="l" t="t" r="r" b="b"/>
              <a:pathLst>
                <a:path w="999020" h="387225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368850"/>
                  </a:lnTo>
                  <a:cubicBezTo>
                    <a:pt x="999020" y="378998"/>
                    <a:pt x="990793" y="387225"/>
                    <a:pt x="980645" y="387225"/>
                  </a:cubicBezTo>
                  <a:lnTo>
                    <a:pt x="18375" y="387225"/>
                  </a:lnTo>
                  <a:cubicBezTo>
                    <a:pt x="8227" y="387225"/>
                    <a:pt x="0" y="378998"/>
                    <a:pt x="0" y="368850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B9724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999020" cy="377700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18227" y="3830656"/>
            <a:ext cx="4285566" cy="132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OPPORTUNITIES </a:t>
            </a:r>
          </a:p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&amp; </a:t>
            </a:r>
          </a:p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THREAT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3917779" y="2750804"/>
            <a:ext cx="0" cy="96664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11789097" y="1694175"/>
            <a:ext cx="4213233" cy="1233020"/>
            <a:chOff x="0" y="0"/>
            <a:chExt cx="999020" cy="2923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9020" cy="292367"/>
            </a:xfrm>
            <a:custGeom>
              <a:avLst/>
              <a:gdLst/>
              <a:ahLst/>
              <a:cxnLst/>
              <a:rect l="l" t="t" r="r" b="b"/>
              <a:pathLst>
                <a:path w="999020" h="292367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273992"/>
                  </a:lnTo>
                  <a:cubicBezTo>
                    <a:pt x="999020" y="284141"/>
                    <a:pt x="990793" y="292367"/>
                    <a:pt x="980645" y="292367"/>
                  </a:cubicBezTo>
                  <a:lnTo>
                    <a:pt x="18375" y="292367"/>
                  </a:lnTo>
                  <a:cubicBezTo>
                    <a:pt x="8227" y="292367"/>
                    <a:pt x="0" y="284141"/>
                    <a:pt x="0" y="273992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B9724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999020" cy="282842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760708" y="1831492"/>
            <a:ext cx="4285566" cy="88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INTERNAL ANALYSIS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789097" y="3784122"/>
            <a:ext cx="4213233" cy="1633070"/>
            <a:chOff x="0" y="0"/>
            <a:chExt cx="999020" cy="3872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9020" cy="387225"/>
            </a:xfrm>
            <a:custGeom>
              <a:avLst/>
              <a:gdLst/>
              <a:ahLst/>
              <a:cxnLst/>
              <a:rect l="l" t="t" r="r" b="b"/>
              <a:pathLst>
                <a:path w="999020" h="387225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368850"/>
                  </a:lnTo>
                  <a:cubicBezTo>
                    <a:pt x="999020" y="378998"/>
                    <a:pt x="990793" y="387225"/>
                    <a:pt x="980645" y="387225"/>
                  </a:cubicBezTo>
                  <a:lnTo>
                    <a:pt x="18375" y="387225"/>
                  </a:lnTo>
                  <a:cubicBezTo>
                    <a:pt x="8227" y="387225"/>
                    <a:pt x="0" y="378998"/>
                    <a:pt x="0" y="368850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B9724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999020" cy="377700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760708" y="3897331"/>
            <a:ext cx="4285566" cy="132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STRENGTH </a:t>
            </a:r>
          </a:p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&amp; </a:t>
            </a:r>
          </a:p>
          <a:p>
            <a:pPr algn="ctr">
              <a:lnSpc>
                <a:spcPts val="3490"/>
              </a:lnSpc>
            </a:pPr>
            <a:r>
              <a:rPr lang="en-US" sz="3202" b="1" spc="9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WEAKNESS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54466" y="8346570"/>
            <a:ext cx="4213233" cy="1233020"/>
            <a:chOff x="0" y="0"/>
            <a:chExt cx="999020" cy="2923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9020" cy="292367"/>
            </a:xfrm>
            <a:custGeom>
              <a:avLst/>
              <a:gdLst/>
              <a:ahLst/>
              <a:cxnLst/>
              <a:rect l="l" t="t" r="r" b="b"/>
              <a:pathLst>
                <a:path w="999020" h="292367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273992"/>
                  </a:lnTo>
                  <a:cubicBezTo>
                    <a:pt x="999020" y="284141"/>
                    <a:pt x="990793" y="292367"/>
                    <a:pt x="980645" y="292367"/>
                  </a:cubicBezTo>
                  <a:lnTo>
                    <a:pt x="18375" y="292367"/>
                  </a:lnTo>
                  <a:cubicBezTo>
                    <a:pt x="8227" y="292367"/>
                    <a:pt x="0" y="284141"/>
                    <a:pt x="0" y="273992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B9724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999020" cy="282842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654466" y="8680577"/>
            <a:ext cx="4285566" cy="43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3102" b="1" spc="9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STRATEGIES</a:t>
            </a:r>
          </a:p>
        </p:txBody>
      </p:sp>
      <p:sp>
        <p:nvSpPr>
          <p:cNvPr id="28" name="AutoShape 28"/>
          <p:cNvSpPr/>
          <p:nvPr/>
        </p:nvSpPr>
        <p:spPr>
          <a:xfrm flipH="1">
            <a:off x="9797249" y="7167923"/>
            <a:ext cx="14288" cy="105808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9" name="Group 29"/>
          <p:cNvGrpSpPr/>
          <p:nvPr/>
        </p:nvGrpSpPr>
        <p:grpSpPr>
          <a:xfrm>
            <a:off x="7654466" y="6418224"/>
            <a:ext cx="4320102" cy="1233020"/>
            <a:chOff x="0" y="0"/>
            <a:chExt cx="1024360" cy="29236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360" cy="292367"/>
            </a:xfrm>
            <a:custGeom>
              <a:avLst/>
              <a:gdLst/>
              <a:ahLst/>
              <a:cxnLst/>
              <a:rect l="l" t="t" r="r" b="b"/>
              <a:pathLst>
                <a:path w="1024360" h="292367">
                  <a:moveTo>
                    <a:pt x="17921" y="0"/>
                  </a:moveTo>
                  <a:lnTo>
                    <a:pt x="1006440" y="0"/>
                  </a:lnTo>
                  <a:cubicBezTo>
                    <a:pt x="1011192" y="0"/>
                    <a:pt x="1015751" y="1888"/>
                    <a:pt x="1019111" y="5249"/>
                  </a:cubicBezTo>
                  <a:cubicBezTo>
                    <a:pt x="1022472" y="8610"/>
                    <a:pt x="1024360" y="13168"/>
                    <a:pt x="1024360" y="17921"/>
                  </a:cubicBezTo>
                  <a:lnTo>
                    <a:pt x="1024360" y="274447"/>
                  </a:lnTo>
                  <a:cubicBezTo>
                    <a:pt x="1024360" y="284344"/>
                    <a:pt x="1016337" y="292367"/>
                    <a:pt x="1006440" y="292367"/>
                  </a:cubicBezTo>
                  <a:lnTo>
                    <a:pt x="17921" y="292367"/>
                  </a:lnTo>
                  <a:cubicBezTo>
                    <a:pt x="8023" y="292367"/>
                    <a:pt x="0" y="284344"/>
                    <a:pt x="0" y="274447"/>
                  </a:cubicBezTo>
                  <a:lnTo>
                    <a:pt x="0" y="17921"/>
                  </a:lnTo>
                  <a:cubicBezTo>
                    <a:pt x="0" y="8023"/>
                    <a:pt x="8023" y="0"/>
                    <a:pt x="17921" y="0"/>
                  </a:cubicBezTo>
                  <a:close/>
                </a:path>
              </a:pathLst>
            </a:custGeom>
            <a:solidFill>
              <a:srgbClr val="B9724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024360" cy="282842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689003" y="6831389"/>
            <a:ext cx="4285566" cy="43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3102" b="1" spc="9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FIXATION PROCESS</a:t>
            </a:r>
          </a:p>
        </p:txBody>
      </p:sp>
      <p:sp>
        <p:nvSpPr>
          <p:cNvPr id="33" name="AutoShape 33"/>
          <p:cNvSpPr/>
          <p:nvPr/>
        </p:nvSpPr>
        <p:spPr>
          <a:xfrm flipV="1">
            <a:off x="12249147" y="5482368"/>
            <a:ext cx="1629006" cy="16290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oval" w="lg" len="lg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5469" y="2586360"/>
            <a:ext cx="621853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External / Enviromental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73069" y="3497819"/>
            <a:ext cx="6218531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Competitor - Pesaing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Customer - Masyarakat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Supplier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Regulations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Social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Culture</a:t>
            </a:r>
          </a:p>
          <a:p>
            <a:pPr marL="539750" lvl="1" indent="-269875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Relationship</a:t>
            </a:r>
          </a:p>
        </p:txBody>
      </p:sp>
      <p:sp>
        <p:nvSpPr>
          <p:cNvPr id="4" name="AutoShape 4"/>
          <p:cNvSpPr/>
          <p:nvPr/>
        </p:nvSpPr>
        <p:spPr>
          <a:xfrm>
            <a:off x="2925469" y="3238822"/>
            <a:ext cx="6218531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2925469" y="2469301"/>
            <a:ext cx="6218531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82296" y="1009650"/>
            <a:ext cx="363797" cy="29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08</a:t>
            </a:r>
          </a:p>
        </p:txBody>
      </p:sp>
      <p:sp>
        <p:nvSpPr>
          <p:cNvPr id="7" name="AutoShape 7"/>
          <p:cNvSpPr/>
          <p:nvPr/>
        </p:nvSpPr>
        <p:spPr>
          <a:xfrm rot="5400000">
            <a:off x="-3202371" y="5138738"/>
            <a:ext cx="1031760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770818" y="500062"/>
            <a:ext cx="1406622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Strategic Formulation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0769" y="2586360"/>
            <a:ext cx="621853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Internal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88369" y="3497819"/>
            <a:ext cx="6218531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SDM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Knowledge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Logistic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IT Knowhow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Organization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“Marketing / Influence Ability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1040769" y="3238822"/>
            <a:ext cx="6218531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040769" y="2469301"/>
            <a:ext cx="6218531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5246" y="2690595"/>
            <a:ext cx="5077975" cy="5785285"/>
            <a:chOff x="0" y="0"/>
            <a:chExt cx="6770633" cy="771371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6770633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28569"/>
              <a:ext cx="6770633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638071"/>
              <a:ext cx="6770633" cy="4075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44" lvl="1" indent="-377822" algn="l">
                <a:lnSpc>
                  <a:spcPts val="4899"/>
                </a:lnSpc>
                <a:buFont typeface="Arial"/>
                <a:buChar char="•"/>
              </a:pPr>
              <a:r>
                <a:rPr lang="en-US" sz="3499">
                  <a:solidFill>
                    <a:srgbClr val="7F221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Sumber Daya</a:t>
              </a:r>
            </a:p>
            <a:p>
              <a:pPr marL="755644" lvl="1" indent="-377822" algn="l">
                <a:lnSpc>
                  <a:spcPts val="4899"/>
                </a:lnSpc>
                <a:buFont typeface="Arial"/>
                <a:buChar char="•"/>
              </a:pPr>
              <a:r>
                <a:rPr lang="en-US" sz="3499">
                  <a:solidFill>
                    <a:srgbClr val="7F221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Semangat Pengabdian yang Tinggi</a:t>
              </a:r>
            </a:p>
            <a:p>
              <a:pPr marL="755646" lvl="1" indent="-377823" algn="l">
                <a:lnSpc>
                  <a:spcPts val="4899"/>
                </a:lnSpc>
                <a:buFont typeface="Arial"/>
                <a:buChar char="•"/>
              </a:pPr>
              <a:r>
                <a:rPr lang="en-US" sz="3499">
                  <a:solidFill>
                    <a:srgbClr val="7F221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Keikhlasan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689405"/>
            <a:ext cx="3385317" cy="2232202"/>
            <a:chOff x="0" y="0"/>
            <a:chExt cx="4513756" cy="2976269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4513756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28569"/>
              <a:ext cx="4513756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Strengths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48772" y="2690595"/>
            <a:ext cx="3385317" cy="3153209"/>
            <a:chOff x="0" y="0"/>
            <a:chExt cx="4513756" cy="420427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4513756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28569"/>
              <a:ext cx="4513756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Opportunities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657121"/>
              <a:ext cx="4513756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94692" y="2903617"/>
            <a:ext cx="4600028" cy="5877995"/>
            <a:chOff x="0" y="0"/>
            <a:chExt cx="6133370" cy="783732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6133370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328569"/>
              <a:ext cx="613337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628546"/>
              <a:ext cx="6133370" cy="42087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77234" lvl="1" indent="-388617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7F221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Logistik</a:t>
              </a:r>
            </a:p>
            <a:p>
              <a:pPr marL="777234" lvl="1" indent="-388617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7F221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Orientasi Belum Fokus/Variatif</a:t>
              </a:r>
            </a:p>
            <a:p>
              <a:pPr marL="777234" lvl="1" indent="-388617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7F221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Pengalaman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80739" y="2690595"/>
            <a:ext cx="3385317" cy="3153209"/>
            <a:chOff x="0" y="0"/>
            <a:chExt cx="4513756" cy="420427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4513756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328569"/>
              <a:ext cx="4513756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Weaknesses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657121"/>
              <a:ext cx="4513756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94706" y="2689405"/>
            <a:ext cx="3385317" cy="3153209"/>
            <a:chOff x="0" y="0"/>
            <a:chExt cx="4513756" cy="4204279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9525"/>
              <a:ext cx="4513756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328569"/>
              <a:ext cx="4513756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Threats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3657121"/>
              <a:ext cx="4513756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8868049" y="2519057"/>
            <a:ext cx="0" cy="6739243"/>
          </a:xfrm>
          <a:prstGeom prst="line">
            <a:avLst/>
          </a:prstGeom>
          <a:ln w="2857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3622565" y="438150"/>
            <a:ext cx="10490967" cy="3153209"/>
            <a:chOff x="0" y="0"/>
            <a:chExt cx="13987956" cy="4204279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9525"/>
              <a:ext cx="13987956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7F2218"/>
                  </a:solidFill>
                  <a:latin typeface="TT Drugs"/>
                  <a:ea typeface="TT Drugs"/>
                  <a:cs typeface="TT Drugs"/>
                  <a:sym typeface="TT Drugs"/>
                </a:rPr>
                <a:t>S.W.O.T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2328569"/>
              <a:ext cx="13987956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657121"/>
              <a:ext cx="13987956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>
            <a:off x="4039038" y="3435424"/>
            <a:ext cx="1226207" cy="0"/>
          </a:xfrm>
          <a:prstGeom prst="line">
            <a:avLst/>
          </a:prstGeom>
          <a:ln w="38100" cap="flat">
            <a:solidFill>
              <a:srgbClr val="B9724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12951756" y="3454474"/>
            <a:ext cx="1226207" cy="0"/>
          </a:xfrm>
          <a:prstGeom prst="line">
            <a:avLst/>
          </a:prstGeom>
          <a:ln w="38100" cap="flat">
            <a:solidFill>
              <a:srgbClr val="B9724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2" name="TextBox 32"/>
          <p:cNvSpPr txBox="1"/>
          <p:nvPr/>
        </p:nvSpPr>
        <p:spPr>
          <a:xfrm>
            <a:off x="740807" y="1009650"/>
            <a:ext cx="285750" cy="29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96" y="1009650"/>
            <a:ext cx="229691" cy="29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10</a:t>
            </a:r>
          </a:p>
        </p:txBody>
      </p:sp>
      <p:sp>
        <p:nvSpPr>
          <p:cNvPr id="3" name="AutoShape 3"/>
          <p:cNvSpPr/>
          <p:nvPr/>
        </p:nvSpPr>
        <p:spPr>
          <a:xfrm>
            <a:off x="9941775" y="2343635"/>
            <a:ext cx="0" cy="1438924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4" name="Group 4"/>
          <p:cNvGrpSpPr/>
          <p:nvPr/>
        </p:nvGrpSpPr>
        <p:grpSpPr>
          <a:xfrm>
            <a:off x="7814104" y="1396365"/>
            <a:ext cx="4213233" cy="1233020"/>
            <a:chOff x="0" y="0"/>
            <a:chExt cx="999020" cy="2923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9020" cy="292367"/>
            </a:xfrm>
            <a:custGeom>
              <a:avLst/>
              <a:gdLst/>
              <a:ahLst/>
              <a:cxnLst/>
              <a:rect l="l" t="t" r="r" b="b"/>
              <a:pathLst>
                <a:path w="999020" h="292367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273992"/>
                  </a:lnTo>
                  <a:cubicBezTo>
                    <a:pt x="999020" y="284141"/>
                    <a:pt x="990793" y="292367"/>
                    <a:pt x="980645" y="292367"/>
                  </a:cubicBezTo>
                  <a:lnTo>
                    <a:pt x="18375" y="292367"/>
                  </a:lnTo>
                  <a:cubicBezTo>
                    <a:pt x="8227" y="292367"/>
                    <a:pt x="0" y="284141"/>
                    <a:pt x="0" y="273992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999020" cy="282842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85716" y="1579185"/>
            <a:ext cx="4285566" cy="81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902" b="1" spc="8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MUSYAWARAH TAHUNAN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7177138" y="3186931"/>
            <a:ext cx="2764523" cy="11915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4113590" y="2710754"/>
            <a:ext cx="2963633" cy="976185"/>
            <a:chOff x="0" y="0"/>
            <a:chExt cx="3951511" cy="1301579"/>
          </a:xfrm>
        </p:grpSpPr>
        <p:grpSp>
          <p:nvGrpSpPr>
            <p:cNvPr id="10" name="Group 10"/>
            <p:cNvGrpSpPr/>
            <p:nvPr/>
          </p:nvGrpSpPr>
          <p:grpSpPr>
            <a:xfrm>
              <a:off x="26175" y="0"/>
              <a:ext cx="3925335" cy="1301579"/>
              <a:chOff x="0" y="0"/>
              <a:chExt cx="861448" cy="2856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61448" cy="285643"/>
              </a:xfrm>
              <a:custGeom>
                <a:avLst/>
                <a:gdLst/>
                <a:ahLst/>
                <a:cxnLst/>
                <a:rect l="l" t="t" r="r" b="b"/>
                <a:pathLst>
                  <a:path w="861448" h="285643">
                    <a:moveTo>
                      <a:pt x="26297" y="0"/>
                    </a:moveTo>
                    <a:lnTo>
                      <a:pt x="835151" y="0"/>
                    </a:lnTo>
                    <a:cubicBezTo>
                      <a:pt x="842126" y="0"/>
                      <a:pt x="848814" y="2771"/>
                      <a:pt x="853746" y="7702"/>
                    </a:cubicBezTo>
                    <a:cubicBezTo>
                      <a:pt x="858678" y="12634"/>
                      <a:pt x="861448" y="19323"/>
                      <a:pt x="861448" y="26297"/>
                    </a:cubicBezTo>
                    <a:lnTo>
                      <a:pt x="861448" y="259345"/>
                    </a:lnTo>
                    <a:cubicBezTo>
                      <a:pt x="861448" y="273869"/>
                      <a:pt x="849675" y="285643"/>
                      <a:pt x="835151" y="285643"/>
                    </a:cubicBezTo>
                    <a:lnTo>
                      <a:pt x="26297" y="285643"/>
                    </a:lnTo>
                    <a:cubicBezTo>
                      <a:pt x="11774" y="285643"/>
                      <a:pt x="0" y="273869"/>
                      <a:pt x="0" y="259345"/>
                    </a:cubicBezTo>
                    <a:lnTo>
                      <a:pt x="0" y="26297"/>
                    </a:lnTo>
                    <a:cubicBezTo>
                      <a:pt x="0" y="11774"/>
                      <a:pt x="11774" y="0"/>
                      <a:pt x="26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B9724B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9525"/>
                <a:ext cx="861448" cy="276118"/>
              </a:xfrm>
              <a:prstGeom prst="rect">
                <a:avLst/>
              </a:prstGeom>
            </p:spPr>
            <p:txBody>
              <a:bodyPr lIns="31541" tIns="31541" rIns="31541" bIns="31541" rtlCol="0" anchor="ctr"/>
              <a:lstStyle/>
              <a:p>
                <a:pPr algn="ctr">
                  <a:lnSpc>
                    <a:spcPts val="207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135774"/>
              <a:ext cx="3951511" cy="1065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3"/>
                </a:lnSpc>
              </a:pPr>
              <a:r>
                <a:rPr lang="en-US" sz="2838" b="1" spc="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DEWAN PEMBINA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92138" y="3860638"/>
            <a:ext cx="2314709" cy="976185"/>
            <a:chOff x="0" y="0"/>
            <a:chExt cx="677310" cy="2856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7310" cy="285643"/>
            </a:xfrm>
            <a:custGeom>
              <a:avLst/>
              <a:gdLst/>
              <a:ahLst/>
              <a:cxnLst/>
              <a:rect l="l" t="t" r="r" b="b"/>
              <a:pathLst>
                <a:path w="677310" h="285643">
                  <a:moveTo>
                    <a:pt x="33447" y="0"/>
                  </a:moveTo>
                  <a:lnTo>
                    <a:pt x="643864" y="0"/>
                  </a:lnTo>
                  <a:cubicBezTo>
                    <a:pt x="652734" y="0"/>
                    <a:pt x="661242" y="3524"/>
                    <a:pt x="667514" y="9796"/>
                  </a:cubicBezTo>
                  <a:cubicBezTo>
                    <a:pt x="673786" y="16069"/>
                    <a:pt x="677310" y="24576"/>
                    <a:pt x="677310" y="33447"/>
                  </a:cubicBezTo>
                  <a:lnTo>
                    <a:pt x="677310" y="252196"/>
                  </a:lnTo>
                  <a:cubicBezTo>
                    <a:pt x="677310" y="261067"/>
                    <a:pt x="673786" y="269574"/>
                    <a:pt x="667514" y="275846"/>
                  </a:cubicBezTo>
                  <a:cubicBezTo>
                    <a:pt x="661242" y="282119"/>
                    <a:pt x="652734" y="285643"/>
                    <a:pt x="643864" y="285643"/>
                  </a:cubicBezTo>
                  <a:lnTo>
                    <a:pt x="33447" y="285643"/>
                  </a:lnTo>
                  <a:cubicBezTo>
                    <a:pt x="24576" y="285643"/>
                    <a:pt x="16069" y="282119"/>
                    <a:pt x="9796" y="275846"/>
                  </a:cubicBezTo>
                  <a:cubicBezTo>
                    <a:pt x="3524" y="269574"/>
                    <a:pt x="0" y="261067"/>
                    <a:pt x="0" y="252196"/>
                  </a:cubicBezTo>
                  <a:lnTo>
                    <a:pt x="0" y="33447"/>
                  </a:lnTo>
                  <a:cubicBezTo>
                    <a:pt x="0" y="24576"/>
                    <a:pt x="3524" y="16069"/>
                    <a:pt x="9796" y="9796"/>
                  </a:cubicBezTo>
                  <a:cubicBezTo>
                    <a:pt x="16069" y="3524"/>
                    <a:pt x="24576" y="0"/>
                    <a:pt x="334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677310" cy="266593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76703" y="3969612"/>
            <a:ext cx="2330145" cy="79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KETUA UMUM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9949493" y="4913022"/>
            <a:ext cx="0" cy="2897083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4550284" y="7819757"/>
            <a:ext cx="11150275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>
            <a:off x="7909085" y="7819757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1" name="AutoShape 21"/>
          <p:cNvSpPr/>
          <p:nvPr/>
        </p:nvSpPr>
        <p:spPr>
          <a:xfrm>
            <a:off x="12071281" y="7819757"/>
            <a:ext cx="0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10303956" y="8383160"/>
            <a:ext cx="3816601" cy="585660"/>
            <a:chOff x="0" y="0"/>
            <a:chExt cx="5088802" cy="780879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088802" cy="780879"/>
              <a:chOff x="0" y="0"/>
              <a:chExt cx="1116781" cy="1713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16781" cy="171371"/>
              </a:xfrm>
              <a:custGeom>
                <a:avLst/>
                <a:gdLst/>
                <a:ahLst/>
                <a:cxnLst/>
                <a:rect l="l" t="t" r="r" b="b"/>
                <a:pathLst>
                  <a:path w="1116781" h="171371">
                    <a:moveTo>
                      <a:pt x="20285" y="0"/>
                    </a:moveTo>
                    <a:lnTo>
                      <a:pt x="1096496" y="0"/>
                    </a:lnTo>
                    <a:cubicBezTo>
                      <a:pt x="1101876" y="0"/>
                      <a:pt x="1107036" y="2137"/>
                      <a:pt x="1110840" y="5941"/>
                    </a:cubicBezTo>
                    <a:cubicBezTo>
                      <a:pt x="1114644" y="9745"/>
                      <a:pt x="1116781" y="14905"/>
                      <a:pt x="1116781" y="20285"/>
                    </a:cubicBezTo>
                    <a:lnTo>
                      <a:pt x="1116781" y="151086"/>
                    </a:lnTo>
                    <a:cubicBezTo>
                      <a:pt x="1116781" y="156466"/>
                      <a:pt x="1114644" y="161625"/>
                      <a:pt x="1110840" y="165429"/>
                    </a:cubicBezTo>
                    <a:cubicBezTo>
                      <a:pt x="1107036" y="169233"/>
                      <a:pt x="1101876" y="171371"/>
                      <a:pt x="1096496" y="171371"/>
                    </a:cubicBezTo>
                    <a:lnTo>
                      <a:pt x="20285" y="171371"/>
                    </a:lnTo>
                    <a:cubicBezTo>
                      <a:pt x="9082" y="171371"/>
                      <a:pt x="0" y="162289"/>
                      <a:pt x="0" y="151086"/>
                    </a:cubicBezTo>
                    <a:lnTo>
                      <a:pt x="0" y="20285"/>
                    </a:lnTo>
                    <a:cubicBezTo>
                      <a:pt x="0" y="9082"/>
                      <a:pt x="9082" y="0"/>
                      <a:pt x="202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B9724B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19050"/>
                <a:ext cx="1116781" cy="152321"/>
              </a:xfrm>
              <a:prstGeom prst="rect">
                <a:avLst/>
              </a:prstGeom>
            </p:spPr>
            <p:txBody>
              <a:bodyPr lIns="31541" tIns="31541" rIns="31541" bIns="31541" rtlCol="0" anchor="ctr"/>
              <a:lstStyle/>
              <a:p>
                <a:pPr algn="ctr">
                  <a:lnSpc>
                    <a:spcPts val="207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34374" y="77579"/>
              <a:ext cx="4820055" cy="544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3"/>
                </a:lnSpc>
              </a:pPr>
              <a:r>
                <a:rPr lang="en-US" sz="2838" b="1" spc="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SOSIAL &amp; BUDAYA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387257" y="8383160"/>
            <a:ext cx="2713147" cy="585660"/>
            <a:chOff x="0" y="0"/>
            <a:chExt cx="793898" cy="1713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3898" cy="171371"/>
            </a:xfrm>
            <a:custGeom>
              <a:avLst/>
              <a:gdLst/>
              <a:ahLst/>
              <a:cxnLst/>
              <a:rect l="l" t="t" r="r" b="b"/>
              <a:pathLst>
                <a:path w="793898" h="171371">
                  <a:moveTo>
                    <a:pt x="28535" y="0"/>
                  </a:moveTo>
                  <a:lnTo>
                    <a:pt x="765363" y="0"/>
                  </a:lnTo>
                  <a:cubicBezTo>
                    <a:pt x="772931" y="0"/>
                    <a:pt x="780189" y="3006"/>
                    <a:pt x="785540" y="8358"/>
                  </a:cubicBezTo>
                  <a:cubicBezTo>
                    <a:pt x="790891" y="13709"/>
                    <a:pt x="793898" y="20967"/>
                    <a:pt x="793898" y="28535"/>
                  </a:cubicBezTo>
                  <a:lnTo>
                    <a:pt x="793898" y="142836"/>
                  </a:lnTo>
                  <a:cubicBezTo>
                    <a:pt x="793898" y="150404"/>
                    <a:pt x="790891" y="157662"/>
                    <a:pt x="785540" y="163013"/>
                  </a:cubicBezTo>
                  <a:cubicBezTo>
                    <a:pt x="780189" y="168364"/>
                    <a:pt x="772931" y="171371"/>
                    <a:pt x="765363" y="171371"/>
                  </a:cubicBezTo>
                  <a:lnTo>
                    <a:pt x="28535" y="171371"/>
                  </a:lnTo>
                  <a:cubicBezTo>
                    <a:pt x="12775" y="171371"/>
                    <a:pt x="0" y="158595"/>
                    <a:pt x="0" y="142836"/>
                  </a:cubicBezTo>
                  <a:lnTo>
                    <a:pt x="0" y="28535"/>
                  </a:lnTo>
                  <a:cubicBezTo>
                    <a:pt x="0" y="12775"/>
                    <a:pt x="12775" y="0"/>
                    <a:pt x="285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793898" cy="152321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513148" y="8472548"/>
            <a:ext cx="2374824" cy="40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PENDIDIKAN</a:t>
            </a:r>
          </a:p>
        </p:txBody>
      </p:sp>
      <p:sp>
        <p:nvSpPr>
          <p:cNvPr id="31" name="AutoShape 31"/>
          <p:cNvSpPr/>
          <p:nvPr/>
        </p:nvSpPr>
        <p:spPr>
          <a:xfrm flipV="1">
            <a:off x="6818892" y="6286939"/>
            <a:ext cx="6355859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1106781" y="6791707"/>
            <a:ext cx="4073955" cy="542332"/>
            <a:chOff x="0" y="0"/>
            <a:chExt cx="1192085" cy="1586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92085" cy="158692"/>
            </a:xfrm>
            <a:custGeom>
              <a:avLst/>
              <a:gdLst/>
              <a:ahLst/>
              <a:cxnLst/>
              <a:rect l="l" t="t" r="r" b="b"/>
              <a:pathLst>
                <a:path w="1192085" h="158692">
                  <a:moveTo>
                    <a:pt x="19003" y="0"/>
                  </a:moveTo>
                  <a:lnTo>
                    <a:pt x="1173082" y="0"/>
                  </a:lnTo>
                  <a:cubicBezTo>
                    <a:pt x="1183577" y="0"/>
                    <a:pt x="1192085" y="8508"/>
                    <a:pt x="1192085" y="19003"/>
                  </a:cubicBezTo>
                  <a:lnTo>
                    <a:pt x="1192085" y="139689"/>
                  </a:lnTo>
                  <a:cubicBezTo>
                    <a:pt x="1192085" y="150184"/>
                    <a:pt x="1183577" y="158692"/>
                    <a:pt x="1173082" y="158692"/>
                  </a:cubicBezTo>
                  <a:lnTo>
                    <a:pt x="19003" y="158692"/>
                  </a:lnTo>
                  <a:cubicBezTo>
                    <a:pt x="8508" y="158692"/>
                    <a:pt x="0" y="150184"/>
                    <a:pt x="0" y="139689"/>
                  </a:cubicBezTo>
                  <a:lnTo>
                    <a:pt x="0" y="19003"/>
                  </a:lnTo>
                  <a:cubicBezTo>
                    <a:pt x="0" y="8508"/>
                    <a:pt x="8508" y="0"/>
                    <a:pt x="190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1192085" cy="139642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349987" y="6876360"/>
            <a:ext cx="3611135" cy="40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BENDAHARA UMUM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798748" y="6791707"/>
            <a:ext cx="3993390" cy="542332"/>
            <a:chOff x="0" y="0"/>
            <a:chExt cx="1168511" cy="1586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68511" cy="158692"/>
            </a:xfrm>
            <a:custGeom>
              <a:avLst/>
              <a:gdLst/>
              <a:ahLst/>
              <a:cxnLst/>
              <a:rect l="l" t="t" r="r" b="b"/>
              <a:pathLst>
                <a:path w="1168511" h="158692">
                  <a:moveTo>
                    <a:pt x="19387" y="0"/>
                  </a:moveTo>
                  <a:lnTo>
                    <a:pt x="1149125" y="0"/>
                  </a:lnTo>
                  <a:cubicBezTo>
                    <a:pt x="1159832" y="0"/>
                    <a:pt x="1168511" y="8680"/>
                    <a:pt x="1168511" y="19387"/>
                  </a:cubicBezTo>
                  <a:lnTo>
                    <a:pt x="1168511" y="139306"/>
                  </a:lnTo>
                  <a:cubicBezTo>
                    <a:pt x="1168511" y="144447"/>
                    <a:pt x="1166469" y="149378"/>
                    <a:pt x="1162833" y="153014"/>
                  </a:cubicBezTo>
                  <a:cubicBezTo>
                    <a:pt x="1159197" y="156650"/>
                    <a:pt x="1154266" y="158692"/>
                    <a:pt x="1149125" y="158692"/>
                  </a:cubicBezTo>
                  <a:lnTo>
                    <a:pt x="19387" y="158692"/>
                  </a:lnTo>
                  <a:cubicBezTo>
                    <a:pt x="8680" y="158692"/>
                    <a:pt x="0" y="150013"/>
                    <a:pt x="0" y="139306"/>
                  </a:cubicBezTo>
                  <a:lnTo>
                    <a:pt x="0" y="19387"/>
                  </a:lnTo>
                  <a:cubicBezTo>
                    <a:pt x="0" y="8680"/>
                    <a:pt x="8680" y="0"/>
                    <a:pt x="1938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1168511" cy="149167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16352" y="6859991"/>
            <a:ext cx="3558183" cy="40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SEKRETARIS UMUM</a:t>
            </a:r>
          </a:p>
        </p:txBody>
      </p:sp>
      <p:sp>
        <p:nvSpPr>
          <p:cNvPr id="40" name="AutoShape 40"/>
          <p:cNvSpPr/>
          <p:nvPr/>
        </p:nvSpPr>
        <p:spPr>
          <a:xfrm rot="5400000">
            <a:off x="-3202371" y="5138738"/>
            <a:ext cx="1031760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2647800" y="167640"/>
            <a:ext cx="1406622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Struktur Organisasi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976138" y="8380263"/>
            <a:ext cx="2975903" cy="976185"/>
            <a:chOff x="0" y="0"/>
            <a:chExt cx="870783" cy="28564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0783" cy="285643"/>
            </a:xfrm>
            <a:custGeom>
              <a:avLst/>
              <a:gdLst/>
              <a:ahLst/>
              <a:cxnLst/>
              <a:rect l="l" t="t" r="r" b="b"/>
              <a:pathLst>
                <a:path w="870783" h="285643">
                  <a:moveTo>
                    <a:pt x="26015" y="0"/>
                  </a:moveTo>
                  <a:lnTo>
                    <a:pt x="844768" y="0"/>
                  </a:lnTo>
                  <a:cubicBezTo>
                    <a:pt x="851667" y="0"/>
                    <a:pt x="858285" y="2741"/>
                    <a:pt x="863163" y="7620"/>
                  </a:cubicBezTo>
                  <a:cubicBezTo>
                    <a:pt x="868042" y="12499"/>
                    <a:pt x="870783" y="19116"/>
                    <a:pt x="870783" y="26015"/>
                  </a:cubicBezTo>
                  <a:lnTo>
                    <a:pt x="870783" y="259627"/>
                  </a:lnTo>
                  <a:cubicBezTo>
                    <a:pt x="870783" y="266527"/>
                    <a:pt x="868042" y="273144"/>
                    <a:pt x="863163" y="278023"/>
                  </a:cubicBezTo>
                  <a:cubicBezTo>
                    <a:pt x="858285" y="282902"/>
                    <a:pt x="851667" y="285643"/>
                    <a:pt x="844768" y="285643"/>
                  </a:cubicBezTo>
                  <a:lnTo>
                    <a:pt x="26015" y="285643"/>
                  </a:lnTo>
                  <a:cubicBezTo>
                    <a:pt x="19116" y="285643"/>
                    <a:pt x="12499" y="282902"/>
                    <a:pt x="7620" y="278023"/>
                  </a:cubicBezTo>
                  <a:cubicBezTo>
                    <a:pt x="2741" y="273144"/>
                    <a:pt x="0" y="266527"/>
                    <a:pt x="0" y="259627"/>
                  </a:cubicBezTo>
                  <a:lnTo>
                    <a:pt x="0" y="26015"/>
                  </a:lnTo>
                  <a:cubicBezTo>
                    <a:pt x="0" y="19116"/>
                    <a:pt x="2741" y="12499"/>
                    <a:pt x="7620" y="7620"/>
                  </a:cubicBezTo>
                  <a:cubicBezTo>
                    <a:pt x="12499" y="2741"/>
                    <a:pt x="19116" y="0"/>
                    <a:pt x="260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870783" cy="266593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3196976" y="8492374"/>
            <a:ext cx="2534228" cy="79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DAK’WAH / TABLIGH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465093" y="8377365"/>
            <a:ext cx="3352880" cy="1366710"/>
            <a:chOff x="0" y="0"/>
            <a:chExt cx="4470507" cy="1822279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470507" cy="1822279"/>
              <a:chOff x="0" y="0"/>
              <a:chExt cx="981091" cy="39991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81091" cy="399915"/>
              </a:xfrm>
              <a:custGeom>
                <a:avLst/>
                <a:gdLst/>
                <a:ahLst/>
                <a:cxnLst/>
                <a:rect l="l" t="t" r="r" b="b"/>
                <a:pathLst>
                  <a:path w="981091" h="399915">
                    <a:moveTo>
                      <a:pt x="23090" y="0"/>
                    </a:moveTo>
                    <a:lnTo>
                      <a:pt x="958001" y="0"/>
                    </a:lnTo>
                    <a:cubicBezTo>
                      <a:pt x="964124" y="0"/>
                      <a:pt x="969998" y="2433"/>
                      <a:pt x="974328" y="6763"/>
                    </a:cubicBezTo>
                    <a:cubicBezTo>
                      <a:pt x="978658" y="11093"/>
                      <a:pt x="981091" y="16966"/>
                      <a:pt x="981091" y="23090"/>
                    </a:cubicBezTo>
                    <a:lnTo>
                      <a:pt x="981091" y="376824"/>
                    </a:lnTo>
                    <a:cubicBezTo>
                      <a:pt x="981091" y="382948"/>
                      <a:pt x="978658" y="388821"/>
                      <a:pt x="974328" y="393152"/>
                    </a:cubicBezTo>
                    <a:cubicBezTo>
                      <a:pt x="969998" y="397482"/>
                      <a:pt x="964124" y="399915"/>
                      <a:pt x="958001" y="399915"/>
                    </a:cubicBezTo>
                    <a:lnTo>
                      <a:pt x="23090" y="399915"/>
                    </a:lnTo>
                    <a:cubicBezTo>
                      <a:pt x="16966" y="399915"/>
                      <a:pt x="11093" y="397482"/>
                      <a:pt x="6763" y="393152"/>
                    </a:cubicBezTo>
                    <a:cubicBezTo>
                      <a:pt x="2433" y="388821"/>
                      <a:pt x="0" y="382948"/>
                      <a:pt x="0" y="376824"/>
                    </a:cubicBezTo>
                    <a:lnTo>
                      <a:pt x="0" y="23090"/>
                    </a:lnTo>
                    <a:cubicBezTo>
                      <a:pt x="0" y="16966"/>
                      <a:pt x="2433" y="11093"/>
                      <a:pt x="6763" y="6763"/>
                    </a:cubicBezTo>
                    <a:cubicBezTo>
                      <a:pt x="11093" y="2433"/>
                      <a:pt x="16966" y="0"/>
                      <a:pt x="230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B9724B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19050"/>
                <a:ext cx="981091" cy="380865"/>
              </a:xfrm>
              <a:prstGeom prst="rect">
                <a:avLst/>
              </a:prstGeom>
            </p:spPr>
            <p:txBody>
              <a:bodyPr lIns="31541" tIns="31541" rIns="31541" bIns="31541" rtlCol="0" anchor="ctr"/>
              <a:lstStyle/>
              <a:p>
                <a:pPr algn="ctr">
                  <a:lnSpc>
                    <a:spcPts val="207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118047" y="77579"/>
              <a:ext cx="4234413" cy="1586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3"/>
                </a:lnSpc>
              </a:pPr>
              <a:r>
                <a:rPr lang="en-US" sz="2838" b="1" spc="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EKONOMI &amp; PEMBANGUNAN SDM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 flipH="1">
            <a:off x="4557596" y="7810105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2" name="AutoShape 52"/>
          <p:cNvSpPr/>
          <p:nvPr/>
        </p:nvSpPr>
        <p:spPr>
          <a:xfrm flipH="1">
            <a:off x="15691372" y="7810232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3" name="AutoShape 53"/>
          <p:cNvSpPr/>
          <p:nvPr/>
        </p:nvSpPr>
        <p:spPr>
          <a:xfrm>
            <a:off x="8075827" y="5536910"/>
            <a:ext cx="1873666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5669255" y="5048817"/>
            <a:ext cx="2314709" cy="976185"/>
            <a:chOff x="0" y="0"/>
            <a:chExt cx="677310" cy="28564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7310" cy="285643"/>
            </a:xfrm>
            <a:custGeom>
              <a:avLst/>
              <a:gdLst/>
              <a:ahLst/>
              <a:cxnLst/>
              <a:rect l="l" t="t" r="r" b="b"/>
              <a:pathLst>
                <a:path w="677310" h="285643">
                  <a:moveTo>
                    <a:pt x="33447" y="0"/>
                  </a:moveTo>
                  <a:lnTo>
                    <a:pt x="643864" y="0"/>
                  </a:lnTo>
                  <a:cubicBezTo>
                    <a:pt x="652734" y="0"/>
                    <a:pt x="661242" y="3524"/>
                    <a:pt x="667514" y="9796"/>
                  </a:cubicBezTo>
                  <a:cubicBezTo>
                    <a:pt x="673786" y="16069"/>
                    <a:pt x="677310" y="24576"/>
                    <a:pt x="677310" y="33447"/>
                  </a:cubicBezTo>
                  <a:lnTo>
                    <a:pt x="677310" y="252196"/>
                  </a:lnTo>
                  <a:cubicBezTo>
                    <a:pt x="677310" y="261067"/>
                    <a:pt x="673786" y="269574"/>
                    <a:pt x="667514" y="275846"/>
                  </a:cubicBezTo>
                  <a:cubicBezTo>
                    <a:pt x="661242" y="282119"/>
                    <a:pt x="652734" y="285643"/>
                    <a:pt x="643864" y="285643"/>
                  </a:cubicBezTo>
                  <a:lnTo>
                    <a:pt x="33447" y="285643"/>
                  </a:lnTo>
                  <a:cubicBezTo>
                    <a:pt x="24576" y="285643"/>
                    <a:pt x="16069" y="282119"/>
                    <a:pt x="9796" y="275846"/>
                  </a:cubicBezTo>
                  <a:cubicBezTo>
                    <a:pt x="3524" y="269574"/>
                    <a:pt x="0" y="261067"/>
                    <a:pt x="0" y="252196"/>
                  </a:cubicBezTo>
                  <a:lnTo>
                    <a:pt x="0" y="33447"/>
                  </a:lnTo>
                  <a:cubicBezTo>
                    <a:pt x="0" y="24576"/>
                    <a:pt x="3524" y="16069"/>
                    <a:pt x="9796" y="9796"/>
                  </a:cubicBezTo>
                  <a:cubicBezTo>
                    <a:pt x="16069" y="3524"/>
                    <a:pt x="24576" y="0"/>
                    <a:pt x="334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19050"/>
              <a:ext cx="677310" cy="266593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653820" y="5157792"/>
            <a:ext cx="2330145" cy="79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DEWAN PAKAR</a:t>
            </a:r>
          </a:p>
        </p:txBody>
      </p:sp>
      <p:sp>
        <p:nvSpPr>
          <p:cNvPr id="58" name="AutoShape 58"/>
          <p:cNvSpPr/>
          <p:nvPr/>
        </p:nvSpPr>
        <p:spPr>
          <a:xfrm flipH="1">
            <a:off x="6824397" y="6273670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9" name="AutoShape 59"/>
          <p:cNvSpPr/>
          <p:nvPr/>
        </p:nvSpPr>
        <p:spPr>
          <a:xfrm flipH="1">
            <a:off x="13165564" y="6273543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0" name="TextBox 60"/>
          <p:cNvSpPr txBox="1"/>
          <p:nvPr/>
        </p:nvSpPr>
        <p:spPr>
          <a:xfrm>
            <a:off x="12009679" y="7410239"/>
            <a:ext cx="2330145" cy="16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1238" b="1" i="1" spc="37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SUPPORTING ELEMENT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30371" y="7410239"/>
            <a:ext cx="2330145" cy="16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1238" b="1" i="1" spc="37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SUPPORTING ELEMENT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755648" y="9906000"/>
            <a:ext cx="2330145" cy="16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1238" b="1" i="1" spc="37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FUNCTIONAL ELEMENT</a:t>
            </a:r>
          </a:p>
        </p:txBody>
      </p:sp>
      <p:sp>
        <p:nvSpPr>
          <p:cNvPr id="63" name="AutoShape 63"/>
          <p:cNvSpPr/>
          <p:nvPr/>
        </p:nvSpPr>
        <p:spPr>
          <a:xfrm>
            <a:off x="4548071" y="9986088"/>
            <a:ext cx="4207576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 flipH="1">
            <a:off x="4550284" y="9442300"/>
            <a:ext cx="2213" cy="553313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AutoShape 65"/>
          <p:cNvSpPr/>
          <p:nvPr/>
        </p:nvSpPr>
        <p:spPr>
          <a:xfrm>
            <a:off x="11085793" y="9986088"/>
            <a:ext cx="4605579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" name="AutoShape 66"/>
          <p:cNvSpPr/>
          <p:nvPr/>
        </p:nvSpPr>
        <p:spPr>
          <a:xfrm>
            <a:off x="15691372" y="9111713"/>
            <a:ext cx="0" cy="88390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96" y="1009650"/>
            <a:ext cx="229691" cy="29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7F2218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10</a:t>
            </a:r>
          </a:p>
        </p:txBody>
      </p:sp>
      <p:sp>
        <p:nvSpPr>
          <p:cNvPr id="3" name="AutoShape 3"/>
          <p:cNvSpPr/>
          <p:nvPr/>
        </p:nvSpPr>
        <p:spPr>
          <a:xfrm>
            <a:off x="9941775" y="2343635"/>
            <a:ext cx="0" cy="1438924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4" name="Group 4"/>
          <p:cNvGrpSpPr/>
          <p:nvPr/>
        </p:nvGrpSpPr>
        <p:grpSpPr>
          <a:xfrm>
            <a:off x="7814104" y="1396365"/>
            <a:ext cx="4213233" cy="1233020"/>
            <a:chOff x="0" y="0"/>
            <a:chExt cx="999020" cy="2923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9020" cy="292367"/>
            </a:xfrm>
            <a:custGeom>
              <a:avLst/>
              <a:gdLst/>
              <a:ahLst/>
              <a:cxnLst/>
              <a:rect l="l" t="t" r="r" b="b"/>
              <a:pathLst>
                <a:path w="999020" h="292367">
                  <a:moveTo>
                    <a:pt x="18375" y="0"/>
                  </a:moveTo>
                  <a:lnTo>
                    <a:pt x="980645" y="0"/>
                  </a:lnTo>
                  <a:cubicBezTo>
                    <a:pt x="985518" y="0"/>
                    <a:pt x="990192" y="1936"/>
                    <a:pt x="993638" y="5382"/>
                  </a:cubicBezTo>
                  <a:cubicBezTo>
                    <a:pt x="997084" y="8828"/>
                    <a:pt x="999020" y="13502"/>
                    <a:pt x="999020" y="18375"/>
                  </a:cubicBezTo>
                  <a:lnTo>
                    <a:pt x="999020" y="273992"/>
                  </a:lnTo>
                  <a:cubicBezTo>
                    <a:pt x="999020" y="284141"/>
                    <a:pt x="990793" y="292367"/>
                    <a:pt x="980645" y="292367"/>
                  </a:cubicBezTo>
                  <a:lnTo>
                    <a:pt x="18375" y="292367"/>
                  </a:lnTo>
                  <a:cubicBezTo>
                    <a:pt x="8227" y="292367"/>
                    <a:pt x="0" y="284141"/>
                    <a:pt x="0" y="273992"/>
                  </a:cubicBezTo>
                  <a:lnTo>
                    <a:pt x="0" y="18375"/>
                  </a:lnTo>
                  <a:cubicBezTo>
                    <a:pt x="0" y="8227"/>
                    <a:pt x="8227" y="0"/>
                    <a:pt x="1837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999020" cy="282842"/>
            </a:xfrm>
            <a:prstGeom prst="rect">
              <a:avLst/>
            </a:prstGeom>
          </p:spPr>
          <p:txBody>
            <a:bodyPr lIns="38923" tIns="38923" rIns="38923" bIns="38923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85716" y="1579185"/>
            <a:ext cx="4285566" cy="81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3"/>
              </a:lnSpc>
            </a:pPr>
            <a:r>
              <a:rPr lang="en-US" sz="2902" b="1" spc="8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MUSYAWARAH TAHUNAN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7177138" y="3186931"/>
            <a:ext cx="2764523" cy="11915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4113590" y="2710754"/>
            <a:ext cx="2963633" cy="976185"/>
            <a:chOff x="0" y="0"/>
            <a:chExt cx="3951511" cy="1301579"/>
          </a:xfrm>
        </p:grpSpPr>
        <p:grpSp>
          <p:nvGrpSpPr>
            <p:cNvPr id="10" name="Group 10"/>
            <p:cNvGrpSpPr/>
            <p:nvPr/>
          </p:nvGrpSpPr>
          <p:grpSpPr>
            <a:xfrm>
              <a:off x="26175" y="0"/>
              <a:ext cx="3925335" cy="1301579"/>
              <a:chOff x="0" y="0"/>
              <a:chExt cx="861448" cy="2856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61448" cy="285643"/>
              </a:xfrm>
              <a:custGeom>
                <a:avLst/>
                <a:gdLst/>
                <a:ahLst/>
                <a:cxnLst/>
                <a:rect l="l" t="t" r="r" b="b"/>
                <a:pathLst>
                  <a:path w="861448" h="285643">
                    <a:moveTo>
                      <a:pt x="26297" y="0"/>
                    </a:moveTo>
                    <a:lnTo>
                      <a:pt x="835151" y="0"/>
                    </a:lnTo>
                    <a:cubicBezTo>
                      <a:pt x="842126" y="0"/>
                      <a:pt x="848814" y="2771"/>
                      <a:pt x="853746" y="7702"/>
                    </a:cubicBezTo>
                    <a:cubicBezTo>
                      <a:pt x="858678" y="12634"/>
                      <a:pt x="861448" y="19323"/>
                      <a:pt x="861448" y="26297"/>
                    </a:cubicBezTo>
                    <a:lnTo>
                      <a:pt x="861448" y="259345"/>
                    </a:lnTo>
                    <a:cubicBezTo>
                      <a:pt x="861448" y="273869"/>
                      <a:pt x="849675" y="285643"/>
                      <a:pt x="835151" y="285643"/>
                    </a:cubicBezTo>
                    <a:lnTo>
                      <a:pt x="26297" y="285643"/>
                    </a:lnTo>
                    <a:cubicBezTo>
                      <a:pt x="11774" y="285643"/>
                      <a:pt x="0" y="273869"/>
                      <a:pt x="0" y="259345"/>
                    </a:cubicBezTo>
                    <a:lnTo>
                      <a:pt x="0" y="26297"/>
                    </a:lnTo>
                    <a:cubicBezTo>
                      <a:pt x="0" y="11774"/>
                      <a:pt x="11774" y="0"/>
                      <a:pt x="26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B9724B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9525"/>
                <a:ext cx="861448" cy="276118"/>
              </a:xfrm>
              <a:prstGeom prst="rect">
                <a:avLst/>
              </a:prstGeom>
            </p:spPr>
            <p:txBody>
              <a:bodyPr lIns="31541" tIns="31541" rIns="31541" bIns="31541" rtlCol="0" anchor="ctr"/>
              <a:lstStyle/>
              <a:p>
                <a:pPr algn="ctr">
                  <a:lnSpc>
                    <a:spcPts val="207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135774"/>
              <a:ext cx="3951511" cy="1065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3"/>
                </a:lnSpc>
              </a:pPr>
              <a:r>
                <a:rPr lang="en-US" sz="2838" b="1" spc="8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DEWAN PEMBINA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92138" y="3860638"/>
            <a:ext cx="2314709" cy="976185"/>
            <a:chOff x="0" y="0"/>
            <a:chExt cx="677310" cy="2856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7310" cy="285643"/>
            </a:xfrm>
            <a:custGeom>
              <a:avLst/>
              <a:gdLst/>
              <a:ahLst/>
              <a:cxnLst/>
              <a:rect l="l" t="t" r="r" b="b"/>
              <a:pathLst>
                <a:path w="677310" h="285643">
                  <a:moveTo>
                    <a:pt x="33447" y="0"/>
                  </a:moveTo>
                  <a:lnTo>
                    <a:pt x="643864" y="0"/>
                  </a:lnTo>
                  <a:cubicBezTo>
                    <a:pt x="652734" y="0"/>
                    <a:pt x="661242" y="3524"/>
                    <a:pt x="667514" y="9796"/>
                  </a:cubicBezTo>
                  <a:cubicBezTo>
                    <a:pt x="673786" y="16069"/>
                    <a:pt x="677310" y="24576"/>
                    <a:pt x="677310" y="33447"/>
                  </a:cubicBezTo>
                  <a:lnTo>
                    <a:pt x="677310" y="252196"/>
                  </a:lnTo>
                  <a:cubicBezTo>
                    <a:pt x="677310" y="261067"/>
                    <a:pt x="673786" y="269574"/>
                    <a:pt x="667514" y="275846"/>
                  </a:cubicBezTo>
                  <a:cubicBezTo>
                    <a:pt x="661242" y="282119"/>
                    <a:pt x="652734" y="285643"/>
                    <a:pt x="643864" y="285643"/>
                  </a:cubicBezTo>
                  <a:lnTo>
                    <a:pt x="33447" y="285643"/>
                  </a:lnTo>
                  <a:cubicBezTo>
                    <a:pt x="24576" y="285643"/>
                    <a:pt x="16069" y="282119"/>
                    <a:pt x="9796" y="275846"/>
                  </a:cubicBezTo>
                  <a:cubicBezTo>
                    <a:pt x="3524" y="269574"/>
                    <a:pt x="0" y="261067"/>
                    <a:pt x="0" y="252196"/>
                  </a:cubicBezTo>
                  <a:lnTo>
                    <a:pt x="0" y="33447"/>
                  </a:lnTo>
                  <a:cubicBezTo>
                    <a:pt x="0" y="24576"/>
                    <a:pt x="3524" y="16069"/>
                    <a:pt x="9796" y="9796"/>
                  </a:cubicBezTo>
                  <a:cubicBezTo>
                    <a:pt x="16069" y="3524"/>
                    <a:pt x="24576" y="0"/>
                    <a:pt x="334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677310" cy="266593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76703" y="3969612"/>
            <a:ext cx="2330145" cy="79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KETUA UMUM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9949493" y="4913022"/>
            <a:ext cx="0" cy="2897083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4550284" y="7819757"/>
            <a:ext cx="11150275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>
            <a:off x="7909085" y="7819757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21" name="AutoShape 21"/>
          <p:cNvSpPr/>
          <p:nvPr/>
        </p:nvSpPr>
        <p:spPr>
          <a:xfrm>
            <a:off x="12071281" y="7819757"/>
            <a:ext cx="0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10239866" y="8383161"/>
            <a:ext cx="3880691" cy="607906"/>
            <a:chOff x="-85453" y="0"/>
            <a:chExt cx="5174255" cy="874841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088802" cy="780879"/>
              <a:chOff x="0" y="0"/>
              <a:chExt cx="1116781" cy="1713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16781" cy="171371"/>
              </a:xfrm>
              <a:custGeom>
                <a:avLst/>
                <a:gdLst/>
                <a:ahLst/>
                <a:cxnLst/>
                <a:rect l="l" t="t" r="r" b="b"/>
                <a:pathLst>
                  <a:path w="1116781" h="171371">
                    <a:moveTo>
                      <a:pt x="20285" y="0"/>
                    </a:moveTo>
                    <a:lnTo>
                      <a:pt x="1096496" y="0"/>
                    </a:lnTo>
                    <a:cubicBezTo>
                      <a:pt x="1101876" y="0"/>
                      <a:pt x="1107036" y="2137"/>
                      <a:pt x="1110840" y="5941"/>
                    </a:cubicBezTo>
                    <a:cubicBezTo>
                      <a:pt x="1114644" y="9745"/>
                      <a:pt x="1116781" y="14905"/>
                      <a:pt x="1116781" y="20285"/>
                    </a:cubicBezTo>
                    <a:lnTo>
                      <a:pt x="1116781" y="151086"/>
                    </a:lnTo>
                    <a:cubicBezTo>
                      <a:pt x="1116781" y="156466"/>
                      <a:pt x="1114644" y="161625"/>
                      <a:pt x="1110840" y="165429"/>
                    </a:cubicBezTo>
                    <a:cubicBezTo>
                      <a:pt x="1107036" y="169233"/>
                      <a:pt x="1101876" y="171371"/>
                      <a:pt x="1096496" y="171371"/>
                    </a:cubicBezTo>
                    <a:lnTo>
                      <a:pt x="20285" y="171371"/>
                    </a:lnTo>
                    <a:cubicBezTo>
                      <a:pt x="9082" y="171371"/>
                      <a:pt x="0" y="162289"/>
                      <a:pt x="0" y="151086"/>
                    </a:cubicBezTo>
                    <a:lnTo>
                      <a:pt x="0" y="20285"/>
                    </a:lnTo>
                    <a:cubicBezTo>
                      <a:pt x="0" y="9082"/>
                      <a:pt x="9082" y="0"/>
                      <a:pt x="202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B9724B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19050"/>
                <a:ext cx="1116781" cy="152321"/>
              </a:xfrm>
              <a:prstGeom prst="rect">
                <a:avLst/>
              </a:prstGeom>
            </p:spPr>
            <p:txBody>
              <a:bodyPr lIns="31541" tIns="31541" rIns="31541" bIns="31541" rtlCol="0" anchor="ctr"/>
              <a:lstStyle/>
              <a:p>
                <a:pPr algn="ctr">
                  <a:lnSpc>
                    <a:spcPts val="207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-85453" y="77579"/>
              <a:ext cx="5174255" cy="7972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b="1" spc="85" dirty="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SOSIAL, BUDAYA &amp; LINGKUNGAN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387257" y="8383160"/>
            <a:ext cx="2713147" cy="585660"/>
            <a:chOff x="0" y="0"/>
            <a:chExt cx="793898" cy="1713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3898" cy="171371"/>
            </a:xfrm>
            <a:custGeom>
              <a:avLst/>
              <a:gdLst/>
              <a:ahLst/>
              <a:cxnLst/>
              <a:rect l="l" t="t" r="r" b="b"/>
              <a:pathLst>
                <a:path w="793898" h="171371">
                  <a:moveTo>
                    <a:pt x="28535" y="0"/>
                  </a:moveTo>
                  <a:lnTo>
                    <a:pt x="765363" y="0"/>
                  </a:lnTo>
                  <a:cubicBezTo>
                    <a:pt x="772931" y="0"/>
                    <a:pt x="780189" y="3006"/>
                    <a:pt x="785540" y="8358"/>
                  </a:cubicBezTo>
                  <a:cubicBezTo>
                    <a:pt x="790891" y="13709"/>
                    <a:pt x="793898" y="20967"/>
                    <a:pt x="793898" y="28535"/>
                  </a:cubicBezTo>
                  <a:lnTo>
                    <a:pt x="793898" y="142836"/>
                  </a:lnTo>
                  <a:cubicBezTo>
                    <a:pt x="793898" y="150404"/>
                    <a:pt x="790891" y="157662"/>
                    <a:pt x="785540" y="163013"/>
                  </a:cubicBezTo>
                  <a:cubicBezTo>
                    <a:pt x="780189" y="168364"/>
                    <a:pt x="772931" y="171371"/>
                    <a:pt x="765363" y="171371"/>
                  </a:cubicBezTo>
                  <a:lnTo>
                    <a:pt x="28535" y="171371"/>
                  </a:lnTo>
                  <a:cubicBezTo>
                    <a:pt x="12775" y="171371"/>
                    <a:pt x="0" y="158595"/>
                    <a:pt x="0" y="142836"/>
                  </a:cubicBezTo>
                  <a:lnTo>
                    <a:pt x="0" y="28535"/>
                  </a:lnTo>
                  <a:cubicBezTo>
                    <a:pt x="0" y="12775"/>
                    <a:pt x="12775" y="0"/>
                    <a:pt x="285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793898" cy="152321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649714" y="8472944"/>
            <a:ext cx="4335151" cy="363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000" b="1" spc="85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PENDIDIKAN &amp; SDM</a:t>
            </a:r>
          </a:p>
        </p:txBody>
      </p:sp>
      <p:sp>
        <p:nvSpPr>
          <p:cNvPr id="31" name="AutoShape 31"/>
          <p:cNvSpPr/>
          <p:nvPr/>
        </p:nvSpPr>
        <p:spPr>
          <a:xfrm flipV="1">
            <a:off x="6818892" y="6286939"/>
            <a:ext cx="6355859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11106781" y="6791707"/>
            <a:ext cx="4073955" cy="542332"/>
            <a:chOff x="0" y="0"/>
            <a:chExt cx="1192085" cy="1586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92085" cy="158692"/>
            </a:xfrm>
            <a:custGeom>
              <a:avLst/>
              <a:gdLst/>
              <a:ahLst/>
              <a:cxnLst/>
              <a:rect l="l" t="t" r="r" b="b"/>
              <a:pathLst>
                <a:path w="1192085" h="158692">
                  <a:moveTo>
                    <a:pt x="19003" y="0"/>
                  </a:moveTo>
                  <a:lnTo>
                    <a:pt x="1173082" y="0"/>
                  </a:lnTo>
                  <a:cubicBezTo>
                    <a:pt x="1183577" y="0"/>
                    <a:pt x="1192085" y="8508"/>
                    <a:pt x="1192085" y="19003"/>
                  </a:cubicBezTo>
                  <a:lnTo>
                    <a:pt x="1192085" y="139689"/>
                  </a:lnTo>
                  <a:cubicBezTo>
                    <a:pt x="1192085" y="150184"/>
                    <a:pt x="1183577" y="158692"/>
                    <a:pt x="1173082" y="158692"/>
                  </a:cubicBezTo>
                  <a:lnTo>
                    <a:pt x="19003" y="158692"/>
                  </a:lnTo>
                  <a:cubicBezTo>
                    <a:pt x="8508" y="158692"/>
                    <a:pt x="0" y="150184"/>
                    <a:pt x="0" y="139689"/>
                  </a:cubicBezTo>
                  <a:lnTo>
                    <a:pt x="0" y="19003"/>
                  </a:lnTo>
                  <a:cubicBezTo>
                    <a:pt x="0" y="8508"/>
                    <a:pt x="8508" y="0"/>
                    <a:pt x="190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1192085" cy="139642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349987" y="6876360"/>
            <a:ext cx="3611135" cy="40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BENDAHARA UMUM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798748" y="6791707"/>
            <a:ext cx="3993390" cy="542332"/>
            <a:chOff x="0" y="0"/>
            <a:chExt cx="1168511" cy="1586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68511" cy="158692"/>
            </a:xfrm>
            <a:custGeom>
              <a:avLst/>
              <a:gdLst/>
              <a:ahLst/>
              <a:cxnLst/>
              <a:rect l="l" t="t" r="r" b="b"/>
              <a:pathLst>
                <a:path w="1168511" h="158692">
                  <a:moveTo>
                    <a:pt x="19387" y="0"/>
                  </a:moveTo>
                  <a:lnTo>
                    <a:pt x="1149125" y="0"/>
                  </a:lnTo>
                  <a:cubicBezTo>
                    <a:pt x="1159832" y="0"/>
                    <a:pt x="1168511" y="8680"/>
                    <a:pt x="1168511" y="19387"/>
                  </a:cubicBezTo>
                  <a:lnTo>
                    <a:pt x="1168511" y="139306"/>
                  </a:lnTo>
                  <a:cubicBezTo>
                    <a:pt x="1168511" y="144447"/>
                    <a:pt x="1166469" y="149378"/>
                    <a:pt x="1162833" y="153014"/>
                  </a:cubicBezTo>
                  <a:cubicBezTo>
                    <a:pt x="1159197" y="156650"/>
                    <a:pt x="1154266" y="158692"/>
                    <a:pt x="1149125" y="158692"/>
                  </a:cubicBezTo>
                  <a:lnTo>
                    <a:pt x="19387" y="158692"/>
                  </a:lnTo>
                  <a:cubicBezTo>
                    <a:pt x="8680" y="158692"/>
                    <a:pt x="0" y="150013"/>
                    <a:pt x="0" y="139306"/>
                  </a:cubicBezTo>
                  <a:lnTo>
                    <a:pt x="0" y="19387"/>
                  </a:lnTo>
                  <a:cubicBezTo>
                    <a:pt x="0" y="8680"/>
                    <a:pt x="8680" y="0"/>
                    <a:pt x="1938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1168511" cy="149167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16352" y="6859991"/>
            <a:ext cx="3558183" cy="40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SEKRETARIS UMUM</a:t>
            </a:r>
          </a:p>
        </p:txBody>
      </p:sp>
      <p:sp>
        <p:nvSpPr>
          <p:cNvPr id="40" name="AutoShape 40"/>
          <p:cNvSpPr/>
          <p:nvPr/>
        </p:nvSpPr>
        <p:spPr>
          <a:xfrm rot="5400000">
            <a:off x="-3202371" y="5138738"/>
            <a:ext cx="10317602" cy="0"/>
          </a:xfrm>
          <a:prstGeom prst="line">
            <a:avLst/>
          </a:prstGeom>
          <a:ln w="9525" cap="rnd">
            <a:solidFill>
              <a:srgbClr val="7F22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2647800" y="167640"/>
            <a:ext cx="1406622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7F2218"/>
                </a:solidFill>
                <a:latin typeface="TT Drugs"/>
                <a:ea typeface="TT Drugs"/>
                <a:cs typeface="TT Drugs"/>
                <a:sym typeface="TT Drugs"/>
              </a:rPr>
              <a:t>Struktur Organisasi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976138" y="8380263"/>
            <a:ext cx="2975903" cy="976185"/>
            <a:chOff x="0" y="0"/>
            <a:chExt cx="870783" cy="28564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0783" cy="285643"/>
            </a:xfrm>
            <a:custGeom>
              <a:avLst/>
              <a:gdLst/>
              <a:ahLst/>
              <a:cxnLst/>
              <a:rect l="l" t="t" r="r" b="b"/>
              <a:pathLst>
                <a:path w="870783" h="285643">
                  <a:moveTo>
                    <a:pt x="26015" y="0"/>
                  </a:moveTo>
                  <a:lnTo>
                    <a:pt x="844768" y="0"/>
                  </a:lnTo>
                  <a:cubicBezTo>
                    <a:pt x="851667" y="0"/>
                    <a:pt x="858285" y="2741"/>
                    <a:pt x="863163" y="7620"/>
                  </a:cubicBezTo>
                  <a:cubicBezTo>
                    <a:pt x="868042" y="12499"/>
                    <a:pt x="870783" y="19116"/>
                    <a:pt x="870783" y="26015"/>
                  </a:cubicBezTo>
                  <a:lnTo>
                    <a:pt x="870783" y="259627"/>
                  </a:lnTo>
                  <a:cubicBezTo>
                    <a:pt x="870783" y="266527"/>
                    <a:pt x="868042" y="273144"/>
                    <a:pt x="863163" y="278023"/>
                  </a:cubicBezTo>
                  <a:cubicBezTo>
                    <a:pt x="858285" y="282902"/>
                    <a:pt x="851667" y="285643"/>
                    <a:pt x="844768" y="285643"/>
                  </a:cubicBezTo>
                  <a:lnTo>
                    <a:pt x="26015" y="285643"/>
                  </a:lnTo>
                  <a:cubicBezTo>
                    <a:pt x="19116" y="285643"/>
                    <a:pt x="12499" y="282902"/>
                    <a:pt x="7620" y="278023"/>
                  </a:cubicBezTo>
                  <a:cubicBezTo>
                    <a:pt x="2741" y="273144"/>
                    <a:pt x="0" y="266527"/>
                    <a:pt x="0" y="259627"/>
                  </a:cubicBezTo>
                  <a:lnTo>
                    <a:pt x="0" y="26015"/>
                  </a:lnTo>
                  <a:cubicBezTo>
                    <a:pt x="0" y="19116"/>
                    <a:pt x="2741" y="12499"/>
                    <a:pt x="7620" y="7620"/>
                  </a:cubicBezTo>
                  <a:cubicBezTo>
                    <a:pt x="12499" y="2741"/>
                    <a:pt x="19116" y="0"/>
                    <a:pt x="260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870783" cy="266593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3196976" y="8482849"/>
            <a:ext cx="2534228" cy="68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2438" b="1" spc="7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DAK’WAH / TABLIGH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465093" y="8377365"/>
            <a:ext cx="3352880" cy="796353"/>
            <a:chOff x="0" y="0"/>
            <a:chExt cx="4470507" cy="1061804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470507" cy="1061804"/>
              <a:chOff x="0" y="0"/>
              <a:chExt cx="981091" cy="23302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81091" cy="233022"/>
              </a:xfrm>
              <a:custGeom>
                <a:avLst/>
                <a:gdLst/>
                <a:ahLst/>
                <a:cxnLst/>
                <a:rect l="l" t="t" r="r" b="b"/>
                <a:pathLst>
                  <a:path w="981091" h="233022">
                    <a:moveTo>
                      <a:pt x="23090" y="0"/>
                    </a:moveTo>
                    <a:lnTo>
                      <a:pt x="958001" y="0"/>
                    </a:lnTo>
                    <a:cubicBezTo>
                      <a:pt x="964124" y="0"/>
                      <a:pt x="969998" y="2433"/>
                      <a:pt x="974328" y="6763"/>
                    </a:cubicBezTo>
                    <a:cubicBezTo>
                      <a:pt x="978658" y="11093"/>
                      <a:pt x="981091" y="16966"/>
                      <a:pt x="981091" y="23090"/>
                    </a:cubicBezTo>
                    <a:lnTo>
                      <a:pt x="981091" y="209932"/>
                    </a:lnTo>
                    <a:cubicBezTo>
                      <a:pt x="981091" y="216055"/>
                      <a:pt x="978658" y="221929"/>
                      <a:pt x="974328" y="226259"/>
                    </a:cubicBezTo>
                    <a:cubicBezTo>
                      <a:pt x="969998" y="230589"/>
                      <a:pt x="964124" y="233022"/>
                      <a:pt x="958001" y="233022"/>
                    </a:cubicBezTo>
                    <a:lnTo>
                      <a:pt x="23090" y="233022"/>
                    </a:lnTo>
                    <a:cubicBezTo>
                      <a:pt x="16966" y="233022"/>
                      <a:pt x="11093" y="230589"/>
                      <a:pt x="6763" y="226259"/>
                    </a:cubicBezTo>
                    <a:cubicBezTo>
                      <a:pt x="2433" y="221929"/>
                      <a:pt x="0" y="216055"/>
                      <a:pt x="0" y="209932"/>
                    </a:cubicBezTo>
                    <a:lnTo>
                      <a:pt x="0" y="23090"/>
                    </a:lnTo>
                    <a:cubicBezTo>
                      <a:pt x="0" y="16966"/>
                      <a:pt x="2433" y="11093"/>
                      <a:pt x="6763" y="6763"/>
                    </a:cubicBezTo>
                    <a:cubicBezTo>
                      <a:pt x="11093" y="2433"/>
                      <a:pt x="16966" y="0"/>
                      <a:pt x="230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B9724B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19050"/>
                <a:ext cx="981091" cy="213972"/>
              </a:xfrm>
              <a:prstGeom prst="rect">
                <a:avLst/>
              </a:prstGeom>
            </p:spPr>
            <p:txBody>
              <a:bodyPr lIns="31541" tIns="31541" rIns="31541" bIns="31541" rtlCol="0" anchor="ctr"/>
              <a:lstStyle/>
              <a:p>
                <a:pPr algn="ctr">
                  <a:lnSpc>
                    <a:spcPts val="207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118047" y="68054"/>
              <a:ext cx="4234413" cy="835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9"/>
                </a:lnSpc>
              </a:pPr>
              <a:r>
                <a:rPr lang="en-US" sz="2238" b="1" spc="67" dirty="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EKONOMI &amp; PEMBANGUNAN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 flipH="1">
            <a:off x="4557596" y="7810105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2" name="AutoShape 52"/>
          <p:cNvSpPr/>
          <p:nvPr/>
        </p:nvSpPr>
        <p:spPr>
          <a:xfrm flipH="1">
            <a:off x="15691372" y="7810232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3" name="AutoShape 53"/>
          <p:cNvSpPr/>
          <p:nvPr/>
        </p:nvSpPr>
        <p:spPr>
          <a:xfrm>
            <a:off x="8075827" y="5536910"/>
            <a:ext cx="1873666" cy="0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5669255" y="5048817"/>
            <a:ext cx="2314709" cy="976185"/>
            <a:chOff x="0" y="0"/>
            <a:chExt cx="677310" cy="28564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7310" cy="285643"/>
            </a:xfrm>
            <a:custGeom>
              <a:avLst/>
              <a:gdLst/>
              <a:ahLst/>
              <a:cxnLst/>
              <a:rect l="l" t="t" r="r" b="b"/>
              <a:pathLst>
                <a:path w="677310" h="285643">
                  <a:moveTo>
                    <a:pt x="33447" y="0"/>
                  </a:moveTo>
                  <a:lnTo>
                    <a:pt x="643864" y="0"/>
                  </a:lnTo>
                  <a:cubicBezTo>
                    <a:pt x="652734" y="0"/>
                    <a:pt x="661242" y="3524"/>
                    <a:pt x="667514" y="9796"/>
                  </a:cubicBezTo>
                  <a:cubicBezTo>
                    <a:pt x="673786" y="16069"/>
                    <a:pt x="677310" y="24576"/>
                    <a:pt x="677310" y="33447"/>
                  </a:cubicBezTo>
                  <a:lnTo>
                    <a:pt x="677310" y="252196"/>
                  </a:lnTo>
                  <a:cubicBezTo>
                    <a:pt x="677310" y="261067"/>
                    <a:pt x="673786" y="269574"/>
                    <a:pt x="667514" y="275846"/>
                  </a:cubicBezTo>
                  <a:cubicBezTo>
                    <a:pt x="661242" y="282119"/>
                    <a:pt x="652734" y="285643"/>
                    <a:pt x="643864" y="285643"/>
                  </a:cubicBezTo>
                  <a:lnTo>
                    <a:pt x="33447" y="285643"/>
                  </a:lnTo>
                  <a:cubicBezTo>
                    <a:pt x="24576" y="285643"/>
                    <a:pt x="16069" y="282119"/>
                    <a:pt x="9796" y="275846"/>
                  </a:cubicBezTo>
                  <a:cubicBezTo>
                    <a:pt x="3524" y="269574"/>
                    <a:pt x="0" y="261067"/>
                    <a:pt x="0" y="252196"/>
                  </a:cubicBezTo>
                  <a:lnTo>
                    <a:pt x="0" y="33447"/>
                  </a:lnTo>
                  <a:cubicBezTo>
                    <a:pt x="0" y="24576"/>
                    <a:pt x="3524" y="16069"/>
                    <a:pt x="9796" y="9796"/>
                  </a:cubicBezTo>
                  <a:cubicBezTo>
                    <a:pt x="16069" y="3524"/>
                    <a:pt x="24576" y="0"/>
                    <a:pt x="334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9724B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19050"/>
              <a:ext cx="677310" cy="266593"/>
            </a:xfrm>
            <a:prstGeom prst="rect">
              <a:avLst/>
            </a:prstGeom>
          </p:spPr>
          <p:txBody>
            <a:bodyPr lIns="31541" tIns="31541" rIns="31541" bIns="31541" rtlCol="0" anchor="ctr"/>
            <a:lstStyle/>
            <a:p>
              <a:pPr algn="ctr">
                <a:lnSpc>
                  <a:spcPts val="207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653820" y="5157792"/>
            <a:ext cx="2330145" cy="79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838" b="1" spc="85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DEWAN PAKAR</a:t>
            </a:r>
          </a:p>
        </p:txBody>
      </p:sp>
      <p:sp>
        <p:nvSpPr>
          <p:cNvPr id="58" name="AutoShape 58"/>
          <p:cNvSpPr/>
          <p:nvPr/>
        </p:nvSpPr>
        <p:spPr>
          <a:xfrm flipH="1">
            <a:off x="6824397" y="6273670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59" name="AutoShape 59"/>
          <p:cNvSpPr/>
          <p:nvPr/>
        </p:nvSpPr>
        <p:spPr>
          <a:xfrm flipH="1">
            <a:off x="13165564" y="6273543"/>
            <a:ext cx="4426" cy="495649"/>
          </a:xfrm>
          <a:prstGeom prst="line">
            <a:avLst/>
          </a:prstGeom>
          <a:ln w="28575" cap="flat">
            <a:solidFill>
              <a:srgbClr val="B9724B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60" name="TextBox 60"/>
          <p:cNvSpPr txBox="1"/>
          <p:nvPr/>
        </p:nvSpPr>
        <p:spPr>
          <a:xfrm>
            <a:off x="11821156" y="7303649"/>
            <a:ext cx="2721245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7"/>
              </a:lnSpc>
            </a:pPr>
            <a:r>
              <a:rPr lang="en-US" sz="1600" b="1" i="1" spc="54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RW . DT. RAJO LENGGANG/ALEX SURYADI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077102" y="7395753"/>
            <a:ext cx="3699602" cy="823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600" b="1" i="1" spc="61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FAUZUL /YONDRI/DWINDRA/AHMAD NURDIANSYAH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113590" y="3862432"/>
            <a:ext cx="3870371" cy="787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7"/>
              </a:lnSpc>
            </a:pPr>
            <a:r>
              <a:rPr lang="en-US" sz="1600" b="1" i="1" spc="57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PROF. JURNALIS  UDDIN/ALI RIDWAN LIUN/ZAFRULLAH SALIM/SJAHRIL SYAM/DT POLONG KAYO/DLL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106848" y="4080674"/>
            <a:ext cx="2501595" cy="55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sz="1938" b="1" i="1" spc="58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DR. M. AKHYAR ADNAN, MA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743208" y="5193004"/>
            <a:ext cx="2783914" cy="787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sz="1600" b="1" i="1" spc="58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PROF. DR. M. AMIN NURDIN, MA/BUDIARMAN BAHAR/JUSNA JA AMIN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140090" y="9527897"/>
            <a:ext cx="3023345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</a:pPr>
            <a:r>
              <a:rPr lang="en-US" sz="1555" b="1" i="1" spc="46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SYAMSUARDI RUSLI/HIDAYATULLAH/HERY GANI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838737" y="9228955"/>
            <a:ext cx="28906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lang="en-US" sz="1455" b="1" i="1" spc="43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EDWAREN LIUN/ NITA ZAINAL/ANDRIZAL/EDWIN NAZAR/IPSEN HARDI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404736" y="9103848"/>
            <a:ext cx="3539864" cy="858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</a:pPr>
            <a:r>
              <a:rPr lang="en-US" sz="1400" b="1" i="1" spc="46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ROSI YULITA RUSLI/REFIAN ERLINDARESPALITO ALWIE/R. PUTRAWAN/EDDY PILIANG/AZWARDI AZWIR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494267" y="9094323"/>
            <a:ext cx="2478398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"/>
              </a:lnSpc>
            </a:pPr>
            <a:r>
              <a:rPr lang="en-US" sz="1534" b="1" i="1" spc="46" dirty="0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AZZAM MANAN/NABLUR RAHMAN/JAKA SETIAWAN/ARIEF ADI WIBAWA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5148262"/>
            <a:ext cx="15789202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321431" y="2641283"/>
            <a:ext cx="13645138" cy="509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0"/>
              </a:lnSpc>
            </a:pPr>
            <a:r>
              <a:rPr lang="ar-EG" sz="1200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  <a:rtl/>
              </a:rPr>
              <a:t>جَزَاكُمُ اللهُ خَيْرًا كَثِيْرًا</a:t>
            </a:r>
          </a:p>
          <a:p>
            <a:pPr algn="ctr">
              <a:lnSpc>
                <a:spcPts val="13320"/>
              </a:lnSpc>
            </a:pPr>
            <a:endParaRPr lang="ar-EG" sz="12000">
              <a:solidFill>
                <a:srgbClr val="FFFFFF"/>
              </a:solidFill>
              <a:latin typeface="TT Drugs"/>
              <a:ea typeface="TT Drugs"/>
              <a:cs typeface="TT Drugs"/>
              <a:sym typeface="TT Drugs"/>
              <a:rtl/>
            </a:endParaRPr>
          </a:p>
          <a:p>
            <a:pPr algn="ctr">
              <a:lnSpc>
                <a:spcPts val="13320"/>
              </a:lnSpc>
            </a:pPr>
            <a:r>
              <a:rPr lang="en-US" sz="1200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Terima Kasih!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475</Words>
  <Application>Microsoft Macintosh PowerPoint</Application>
  <PresentationFormat>Custom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Aileron</vt:lpstr>
      <vt:lpstr>Arial</vt:lpstr>
      <vt:lpstr>Calibri</vt:lpstr>
      <vt:lpstr>TT Interphases</vt:lpstr>
      <vt:lpstr>TT Drugs</vt:lpstr>
      <vt:lpstr>TT Interphases Bold</vt:lpstr>
      <vt:lpstr>Aileron Bold Italics</vt:lpstr>
      <vt:lpstr>TT Drugs Bold</vt:lpstr>
      <vt:lpstr>Aileron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Dewan Risalah Islammiyah - Revisi 1</dc:title>
  <cp:lastModifiedBy>Fauzul Abrar</cp:lastModifiedBy>
  <cp:revision>3</cp:revision>
  <dcterms:created xsi:type="dcterms:W3CDTF">2006-08-16T00:00:00Z</dcterms:created>
  <dcterms:modified xsi:type="dcterms:W3CDTF">2025-11-14T14:32:07Z</dcterms:modified>
  <dc:identifier>DAGUkBGY7oU</dc:identifier>
</cp:coreProperties>
</file>